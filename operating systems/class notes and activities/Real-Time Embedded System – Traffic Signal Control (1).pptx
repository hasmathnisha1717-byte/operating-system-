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8425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will examine traffic signal control as a real-time embedded system. The goal is to connect operating-system concepts—tasks, timers, events, device drivers, and scheduling—to a familiar real-world application. I am presenting this topic as part of the Operating Systems course in the AI &amp; Data Science department.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by distinguishing an embedded system from a general-purpose computer. An embedded system is built for a dedicated function, while a real-time system must produce the correct result within a required deadline. In traffic control, timing is part of correctness: a signal that changes too early or too late can create confusion and safety risks. Use the red, yellow, and green sequence to introduce the idea of states and transitions.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an RTOS is designed for deterministic behavior rather than maximum general-purpose throughput. It schedules tasks according to priority and timing requirements. For a traffic signal, the controller must respond quickly to timers and sensor events, maintain accurate phase durations, and continue operating predictably even when several tasks are active. Mention that emergency or safety-critical events can receive higher priority than normal background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the top layer down. The traffic-signal application contains the control logic. The RTOS kernel schedules tasks, manages timers, and coordinates events. Device drivers translate software commands into electrical signals for LEDs and sensors. The microcontroller executes the program and interfaces with the physical traffic lights. Emphasize that each layer has a clear responsibility, which makes the system easier to test and maintain.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controller as a repeating state machine. In this example, the red phase lasts 60 seconds, the green phase lasts 45 seconds, and the yellow phase lasts 5 seconds before returning to red. These values are illustrative operating parameters; a real deployment would use engineered timings and safety rules. The RTOS timer triggers each transition, while sensors can provide additional events such as pedestrian requests or traffic-density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the application to operating-system services. Process-control functions start, suspend, or stop tasks. Timer functions schedule the next signal transition. Event handling receives sensor input, and device-control functions write to GPIO pins connected to LEDs or relays. The code example shows a timer event changing green to yellow, then setting a five-second timer for the next transition. The kernel scheduler invokes this logic at the required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practical benefits. Deterministic scheduling improves reliability because deadlines are explicit. Efficient microcontroller operation supports continuous, low-power deployment. Accurate timing improves safety by preventing conflicting signal states. The layered RTOS design also supports scalability: additional sensors or emergency-vehicle features can be added without redesigning the entire system. These advantages explain why real-time embedded systems are common in transportation and industrial control.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main takeaway: traffic-signal control is simple to understand, but it demonstrates the essential principles of real-time embedded operating systems. Hardware provides the physical interface, the RTOS and drivers coordinate execution, and the application defines the signal policy. When these parts work together with accurate timing and fast event handling, the result is reliable and safer traffic flow. Invite questions about scheduling, timers, sensors, or RTOS design.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14068"/>
            <a:ext cx="9144000" cy="5143500"/>
          </a:xfrm>
          <a:prstGeom prst="rect">
            <a:avLst/>
          </a:prstGeom>
        </p:spPr>
      </p:pic>
      <p:sp>
        <p:nvSpPr>
          <p:cNvPr id="4" name="Text 0"/>
          <p:cNvSpPr/>
          <p:nvPr/>
        </p:nvSpPr>
        <p:spPr>
          <a:xfrm>
            <a:off x="342900" y="1128768"/>
            <a:ext cx="3571875" cy="1508671"/>
          </a:xfrm>
          <a:prstGeom prst="rect">
            <a:avLst/>
          </a:prstGeom>
          <a:noFill/>
          <a:ln/>
        </p:spPr>
        <p:txBody>
          <a:bodyPr wrap="square" lIns="0" tIns="0" rIns="0" bIns="0" rtlCol="0" anchor="t">
            <a:spAutoFit/>
          </a:bodyPr>
          <a:lstStyle/>
          <a:p>
            <a:pPr marL="0" indent="0" algn="l">
              <a:lnSpc>
                <a:spcPct val="88000"/>
              </a:lnSpc>
              <a:buNone/>
            </a:pPr>
            <a:r>
              <a:rPr lang="en-US" sz="2450" b="1" kern="0" spc="-1" dirty="0">
                <a:solidFill>
                  <a:srgbClr val="0B132B"/>
                </a:solidFill>
                <a:latin typeface="Times New Roman" pitchFamily="34" charset="0"/>
                <a:ea typeface="Times New Roman" pitchFamily="34" charset="-122"/>
                <a:cs typeface="Times New Roman" pitchFamily="34" charset="-120"/>
              </a:rPr>
              <a:t>REAL-TIME
EMBEDDED SYSTEM
TRAFFIC SIGNAL CONTROL</a:t>
            </a:r>
            <a:endParaRPr lang="en-US" sz="2450" dirty="0"/>
          </a:p>
        </p:txBody>
      </p:sp>
      <p:sp>
        <p:nvSpPr>
          <p:cNvPr id="5" name="Text 1"/>
          <p:cNvSpPr/>
          <p:nvPr/>
        </p:nvSpPr>
        <p:spPr>
          <a:xfrm>
            <a:off x="342900" y="2866039"/>
            <a:ext cx="3571875" cy="160009"/>
          </a:xfrm>
          <a:prstGeom prst="rect">
            <a:avLst/>
          </a:prstGeom>
          <a:noFill/>
          <a:ln/>
        </p:spPr>
        <p:txBody>
          <a:bodyPr wrap="none" lIns="0" tIns="0" rIns="0" bIns="0" rtlCol="0" anchor="t">
            <a:spAutoFit/>
          </a:bodyPr>
          <a:lstStyle/>
          <a:p>
            <a:pPr marL="0" indent="0" algn="l">
              <a:lnSpc>
                <a:spcPct val="128000"/>
              </a:lnSpc>
              <a:buNone/>
            </a:pPr>
            <a:r>
              <a:rPr lang="en-US" sz="700" b="1" kern="0" spc="1" dirty="0">
                <a:solidFill>
                  <a:srgbClr val="0B132B"/>
                </a:solidFill>
                <a:latin typeface="Times New Roman" pitchFamily="34" charset="0"/>
                <a:ea typeface="Times New Roman" pitchFamily="34" charset="-122"/>
                <a:cs typeface="Times New Roman" pitchFamily="34" charset="-120"/>
              </a:rPr>
              <a:t>PRESENTED BY</a:t>
            </a:r>
            <a:endParaRPr lang="en-US" sz="700" dirty="0"/>
          </a:p>
        </p:txBody>
      </p:sp>
      <p:sp>
        <p:nvSpPr>
          <p:cNvPr id="6" name="Text 2"/>
          <p:cNvSpPr/>
          <p:nvPr/>
        </p:nvSpPr>
        <p:spPr>
          <a:xfrm>
            <a:off x="342899" y="3111773"/>
            <a:ext cx="1971235" cy="192156"/>
          </a:xfrm>
          <a:prstGeom prst="rect">
            <a:avLst/>
          </a:prstGeom>
          <a:noFill/>
          <a:ln/>
        </p:spPr>
        <p:txBody>
          <a:bodyPr wrap="square" lIns="0" tIns="0" rIns="0" bIns="0" rtlCol="0" anchor="t">
            <a:spAutoFit/>
          </a:bodyPr>
          <a:lstStyle/>
          <a:p>
            <a:pPr marL="0" indent="0" algn="l">
              <a:lnSpc>
                <a:spcPct val="128000"/>
              </a:lnSpc>
              <a:buNone/>
            </a:pPr>
            <a:r>
              <a:rPr lang="en-US" sz="1050" dirty="0">
                <a:solidFill>
                  <a:srgbClr val="4A5568"/>
                </a:solidFill>
                <a:latin typeface="Times New Roman" pitchFamily="34" charset="0"/>
                <a:ea typeface="Times New Roman" pitchFamily="34" charset="-122"/>
                <a:cs typeface="Times New Roman" pitchFamily="34" charset="-120"/>
              </a:rPr>
              <a:t>Hasmath </a:t>
            </a:r>
            <a:r>
              <a:rPr lang="en-US" sz="1050" dirty="0" err="1">
                <a:solidFill>
                  <a:srgbClr val="4A5568"/>
                </a:solidFill>
                <a:latin typeface="Times New Roman" pitchFamily="34" charset="0"/>
                <a:ea typeface="Times New Roman" pitchFamily="34" charset="-122"/>
                <a:cs typeface="Times New Roman" pitchFamily="34" charset="-120"/>
              </a:rPr>
              <a:t>nisha</a:t>
            </a:r>
            <a:r>
              <a:rPr lang="en-US" sz="1050" dirty="0">
                <a:solidFill>
                  <a:srgbClr val="4A5568"/>
                </a:solidFill>
                <a:latin typeface="Times New Roman" pitchFamily="34" charset="0"/>
                <a:ea typeface="Times New Roman" pitchFamily="34" charset="-122"/>
                <a:cs typeface="Times New Roman" pitchFamily="34" charset="-120"/>
              </a:rPr>
              <a:t> M(192524513)</a:t>
            </a:r>
            <a:endParaRPr lang="en-US" sz="1050" dirty="0"/>
          </a:p>
        </p:txBody>
      </p:sp>
      <p:sp>
        <p:nvSpPr>
          <p:cNvPr id="7" name="Text 3"/>
          <p:cNvSpPr/>
          <p:nvPr/>
        </p:nvSpPr>
        <p:spPr>
          <a:xfrm>
            <a:off x="342900" y="3401095"/>
            <a:ext cx="3571875" cy="160009"/>
          </a:xfrm>
          <a:prstGeom prst="rect">
            <a:avLst/>
          </a:prstGeom>
          <a:noFill/>
          <a:ln/>
        </p:spPr>
        <p:txBody>
          <a:bodyPr wrap="none" lIns="0" tIns="0" rIns="0" bIns="0" rtlCol="0" anchor="t">
            <a:spAutoFit/>
          </a:bodyPr>
          <a:lstStyle/>
          <a:p>
            <a:pPr marL="0" indent="0" algn="l">
              <a:lnSpc>
                <a:spcPct val="128000"/>
              </a:lnSpc>
              <a:buNone/>
            </a:pPr>
            <a:r>
              <a:rPr lang="en-US" sz="700" b="1" kern="0" spc="1" dirty="0">
                <a:solidFill>
                  <a:srgbClr val="0B132B"/>
                </a:solidFill>
                <a:latin typeface="Times New Roman" pitchFamily="34" charset="0"/>
                <a:ea typeface="Times New Roman" pitchFamily="34" charset="-122"/>
                <a:cs typeface="Times New Roman" pitchFamily="34" charset="-120"/>
              </a:rPr>
              <a:t>DEPARTMENT</a:t>
            </a:r>
            <a:endParaRPr lang="en-US" sz="700" dirty="0"/>
          </a:p>
        </p:txBody>
      </p:sp>
      <p:sp>
        <p:nvSpPr>
          <p:cNvPr id="8" name="Text 4"/>
          <p:cNvSpPr/>
          <p:nvPr/>
        </p:nvSpPr>
        <p:spPr>
          <a:xfrm>
            <a:off x="342900" y="3646829"/>
            <a:ext cx="1083004" cy="160734"/>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4A5568"/>
                </a:solidFill>
                <a:latin typeface="Times New Roman" pitchFamily="34" charset="0"/>
                <a:ea typeface="Times New Roman" pitchFamily="34" charset="-122"/>
                <a:cs typeface="Times New Roman" pitchFamily="34" charset="-120"/>
              </a:rPr>
              <a:t>AI &amp; Data Science</a:t>
            </a:r>
            <a:endParaRPr lang="en-US" sz="1050" dirty="0"/>
          </a:p>
        </p:txBody>
      </p:sp>
      <p:pic>
        <p:nvPicPr>
          <p:cNvPr id="9" name="Image 1" descr="preencoded.png"/>
          <p:cNvPicPr>
            <a:picLocks noChangeAspect="1"/>
          </p:cNvPicPr>
          <p:nvPr/>
        </p:nvPicPr>
        <p:blipFill>
          <a:blip r:embed="rId4"/>
          <a:stretch>
            <a:fillRect/>
          </a:stretch>
        </p:blipFill>
        <p:spPr>
          <a:xfrm>
            <a:off x="4257675" y="964406"/>
            <a:ext cx="4643438" cy="3214688"/>
          </a:xfrm>
          <a:prstGeom prst="rect">
            <a:avLst/>
          </a:prstGeom>
        </p:spPr>
      </p:pic>
      <p:sp>
        <p:nvSpPr>
          <p:cNvPr id="10" name="Shape 5"/>
          <p:cNvSpPr/>
          <p:nvPr/>
        </p:nvSpPr>
        <p:spPr>
          <a:xfrm>
            <a:off x="342900" y="4593431"/>
            <a:ext cx="8458200" cy="207169"/>
          </a:xfrm>
          <a:prstGeom prst="rect">
            <a:avLst/>
          </a:prstGeom>
          <a:solidFill>
            <a:srgbClr val="000000">
              <a:alpha val="0"/>
            </a:srgbClr>
          </a:solidFill>
          <a:ln/>
        </p:spPr>
      </p:sp>
      <p:sp>
        <p:nvSpPr>
          <p:cNvPr id="11" name="Shape 6"/>
          <p:cNvSpPr/>
          <p:nvPr/>
        </p:nvSpPr>
        <p:spPr>
          <a:xfrm>
            <a:off x="342900" y="4593431"/>
            <a:ext cx="8458200" cy="7144"/>
          </a:xfrm>
          <a:prstGeom prst="rect">
            <a:avLst/>
          </a:prstGeom>
          <a:solidFill>
            <a:srgbClr val="CBD5E0"/>
          </a:solidFill>
          <a:ln/>
        </p:spPr>
      </p:sp>
      <p:sp>
        <p:nvSpPr>
          <p:cNvPr id="12" name="Text 7"/>
          <p:cNvSpPr/>
          <p:nvPr/>
        </p:nvSpPr>
        <p:spPr>
          <a:xfrm>
            <a:off x="342900" y="4686300"/>
            <a:ext cx="1260202" cy="114300"/>
          </a:xfrm>
          <a:prstGeom prst="rect">
            <a:avLst/>
          </a:prstGeom>
          <a:noFill/>
          <a:ln/>
        </p:spPr>
        <p:txBody>
          <a:bodyPr wrap="non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OPERATING SYSTEMS</a:t>
            </a:r>
            <a:endParaRPr lang="en-US" sz="700" dirty="0"/>
          </a:p>
        </p:txBody>
      </p:sp>
      <p:sp>
        <p:nvSpPr>
          <p:cNvPr id="13" name="Text 8"/>
          <p:cNvSpPr/>
          <p:nvPr/>
        </p:nvSpPr>
        <p:spPr>
          <a:xfrm>
            <a:off x="8295847" y="4686300"/>
            <a:ext cx="505253" cy="114300"/>
          </a:xfrm>
          <a:prstGeom prst="rect">
            <a:avLst/>
          </a:prstGeom>
          <a:noFill/>
          <a:ln/>
        </p:spPr>
        <p:txBody>
          <a:bodyPr wrap="non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SLIDE 01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1854431" y="542925"/>
            <a:ext cx="6408111" cy="264319"/>
          </a:xfrm>
          <a:prstGeom prst="rect">
            <a:avLst/>
          </a:prstGeom>
          <a:noFill/>
          <a:ln/>
        </p:spPr>
        <p:txBody>
          <a:bodyPr wrap="square" lIns="0" tIns="0" rIns="0" bIns="0" rtlCol="0" anchor="t">
            <a:spAutoFit/>
          </a:bodyPr>
          <a:lstStyle/>
          <a:p>
            <a:pPr marL="0" indent="0" algn="l">
              <a:buNone/>
            </a:pPr>
            <a:r>
              <a:rPr lang="en-US" sz="1600" b="1" kern="0" spc="1" dirty="0">
                <a:solidFill>
                  <a:srgbClr val="0B132B"/>
                </a:solidFill>
                <a:latin typeface="Times New Roman" pitchFamily="34" charset="0"/>
                <a:ea typeface="Times New Roman" pitchFamily="34" charset="-122"/>
                <a:cs typeface="Times New Roman" pitchFamily="34" charset="-120"/>
              </a:rPr>
              <a:t>INTRODUCTION: TIMING IS THE PRODUCT</a:t>
            </a:r>
            <a:endParaRPr lang="en-US" sz="1600" dirty="0"/>
          </a:p>
        </p:txBody>
      </p:sp>
      <p:sp>
        <p:nvSpPr>
          <p:cNvPr id="5" name="Text 1"/>
          <p:cNvSpPr/>
          <p:nvPr/>
        </p:nvSpPr>
        <p:spPr>
          <a:xfrm>
            <a:off x="542925" y="1664494"/>
            <a:ext cx="3800475" cy="196453"/>
          </a:xfrm>
          <a:prstGeom prst="rect">
            <a:avLst/>
          </a:prstGeom>
          <a:noFill/>
          <a:ln/>
        </p:spPr>
        <p:txBody>
          <a:bodyPr wrap="square" lIns="0" tIns="0" rIns="0" bIns="0" rtlCol="0" anchor="t">
            <a:spAutoFit/>
          </a:bodyPr>
          <a:lstStyle/>
          <a:p>
            <a:pPr marL="0" indent="0" algn="l">
              <a:buNone/>
            </a:pPr>
            <a:r>
              <a:rPr lang="en-US" sz="1200" b="1" dirty="0">
                <a:solidFill>
                  <a:srgbClr val="0B132B"/>
                </a:solidFill>
                <a:latin typeface="Times New Roman" pitchFamily="34" charset="0"/>
                <a:ea typeface="Times New Roman" pitchFamily="34" charset="-122"/>
                <a:cs typeface="Times New Roman" pitchFamily="34" charset="-120"/>
              </a:rPr>
              <a:t>Embedded System</a:t>
            </a:r>
            <a:endParaRPr lang="en-US" sz="1200" dirty="0"/>
          </a:p>
        </p:txBody>
      </p:sp>
      <p:sp>
        <p:nvSpPr>
          <p:cNvPr id="6" name="Text 2"/>
          <p:cNvSpPr/>
          <p:nvPr/>
        </p:nvSpPr>
        <p:spPr>
          <a:xfrm>
            <a:off x="542925" y="1946672"/>
            <a:ext cx="3800475"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A5568"/>
                </a:solidFill>
                <a:latin typeface="Times New Roman" pitchFamily="34" charset="0"/>
                <a:ea typeface="Times New Roman" pitchFamily="34" charset="-122"/>
                <a:cs typeface="Times New Roman" pitchFamily="34" charset="-120"/>
              </a:rPr>
              <a:t>A specialized computing system designed to perform one or more dedicated functions, often with real-time computing constraints.</a:t>
            </a:r>
            <a:endParaRPr lang="en-US" sz="950" dirty="0"/>
          </a:p>
        </p:txBody>
      </p:sp>
      <p:sp>
        <p:nvSpPr>
          <p:cNvPr id="7" name="Text 3"/>
          <p:cNvSpPr/>
          <p:nvPr/>
        </p:nvSpPr>
        <p:spPr>
          <a:xfrm>
            <a:off x="542925" y="2586707"/>
            <a:ext cx="3800475" cy="196453"/>
          </a:xfrm>
          <a:prstGeom prst="rect">
            <a:avLst/>
          </a:prstGeom>
          <a:noFill/>
          <a:ln/>
        </p:spPr>
        <p:txBody>
          <a:bodyPr wrap="square" lIns="0" tIns="0" rIns="0" bIns="0" rtlCol="0" anchor="t">
            <a:spAutoFit/>
          </a:bodyPr>
          <a:lstStyle/>
          <a:p>
            <a:pPr marL="0" indent="0" algn="l">
              <a:buNone/>
            </a:pPr>
            <a:r>
              <a:rPr lang="en-US" sz="1200" b="1" dirty="0">
                <a:solidFill>
                  <a:srgbClr val="0B132B"/>
                </a:solidFill>
                <a:latin typeface="Times New Roman" pitchFamily="34" charset="0"/>
                <a:ea typeface="Times New Roman" pitchFamily="34" charset="-122"/>
                <a:cs typeface="Times New Roman" pitchFamily="34" charset="-120"/>
              </a:rPr>
              <a:t>Real-Time System</a:t>
            </a:r>
            <a:endParaRPr lang="en-US" sz="1200" dirty="0"/>
          </a:p>
        </p:txBody>
      </p:sp>
      <p:sp>
        <p:nvSpPr>
          <p:cNvPr id="8" name="Text 4"/>
          <p:cNvSpPr/>
          <p:nvPr/>
        </p:nvSpPr>
        <p:spPr>
          <a:xfrm>
            <a:off x="542925" y="2868885"/>
            <a:ext cx="3800475"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A5568"/>
                </a:solidFill>
                <a:latin typeface="Times New Roman" pitchFamily="34" charset="0"/>
                <a:ea typeface="Times New Roman" pitchFamily="34" charset="-122"/>
                <a:cs typeface="Times New Roman" pitchFamily="34" charset="-120"/>
              </a:rPr>
              <a:t>A system where the correctness of the result depends not only on the logical correctness but also on the </a:t>
            </a:r>
            <a:r>
              <a:rPr lang="en-US" sz="900" b="1" dirty="0">
                <a:solidFill>
                  <a:srgbClr val="4A5568"/>
                </a:solidFill>
                <a:latin typeface="Times New Roman" pitchFamily="34" charset="0"/>
                <a:ea typeface="Times New Roman" pitchFamily="34" charset="-122"/>
                <a:cs typeface="Times New Roman" pitchFamily="34" charset="-120"/>
              </a:rPr>
              <a:t>time</a:t>
            </a:r>
            <a:r>
              <a:rPr lang="en-US" sz="950" dirty="0">
                <a:solidFill>
                  <a:srgbClr val="4A5568"/>
                </a:solidFill>
                <a:latin typeface="Times New Roman" pitchFamily="34" charset="0"/>
                <a:ea typeface="Times New Roman" pitchFamily="34" charset="-122"/>
                <a:cs typeface="Times New Roman" pitchFamily="34" charset="-120"/>
              </a:rPr>
              <a:t> at which it is delivered.</a:t>
            </a:r>
            <a:endParaRPr lang="en-US" sz="950" dirty="0"/>
          </a:p>
        </p:txBody>
      </p:sp>
      <p:sp>
        <p:nvSpPr>
          <p:cNvPr id="9" name="Shape 5"/>
          <p:cNvSpPr/>
          <p:nvPr/>
        </p:nvSpPr>
        <p:spPr>
          <a:xfrm>
            <a:off x="4829887" y="1647349"/>
            <a:ext cx="4000500" cy="2260215"/>
          </a:xfrm>
          <a:prstGeom prst="rect">
            <a:avLst/>
          </a:prstGeom>
          <a:solidFill>
            <a:srgbClr val="F8FAFC"/>
          </a:solidFill>
          <a:ln w="9144">
            <a:solidFill>
              <a:srgbClr val="CBD5E0"/>
            </a:solidFill>
            <a:prstDash val="solid"/>
          </a:ln>
        </p:spPr>
      </p:sp>
      <p:sp>
        <p:nvSpPr>
          <p:cNvPr id="10" name="Text 6"/>
          <p:cNvSpPr/>
          <p:nvPr/>
        </p:nvSpPr>
        <p:spPr>
          <a:xfrm>
            <a:off x="5058487" y="1875949"/>
            <a:ext cx="3543300" cy="114300"/>
          </a:xfrm>
          <a:prstGeom prst="rect">
            <a:avLst/>
          </a:prstGeom>
          <a:noFill/>
          <a:ln/>
        </p:spPr>
        <p:txBody>
          <a:bodyPr wrap="squar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THE TRAFFIC SIGNAL CASE</a:t>
            </a:r>
            <a:endParaRPr lang="en-US" sz="700" dirty="0"/>
          </a:p>
        </p:txBody>
      </p:sp>
      <p:sp>
        <p:nvSpPr>
          <p:cNvPr id="11" name="Text 7"/>
          <p:cNvSpPr/>
          <p:nvPr/>
        </p:nvSpPr>
        <p:spPr>
          <a:xfrm>
            <a:off x="5058487" y="2104549"/>
            <a:ext cx="3543300"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A5568"/>
                </a:solidFill>
                <a:latin typeface="Times New Roman" pitchFamily="34" charset="0"/>
                <a:ea typeface="Times New Roman" pitchFamily="34" charset="-122"/>
                <a:cs typeface="Times New Roman" pitchFamily="34" charset="-120"/>
              </a:rPr>
              <a:t>Traffic signal control is a classic real-time application. Failure to switch signals within a fixed time window directly impacts safety and traffic flow.</a:t>
            </a:r>
            <a:endParaRPr lang="en-US" sz="950" dirty="0"/>
          </a:p>
        </p:txBody>
      </p:sp>
      <p:sp>
        <p:nvSpPr>
          <p:cNvPr id="12" name="Text 8"/>
          <p:cNvSpPr/>
          <p:nvPr/>
        </p:nvSpPr>
        <p:spPr>
          <a:xfrm>
            <a:off x="5315662" y="2898510"/>
            <a:ext cx="1352457" cy="132159"/>
          </a:xfrm>
          <a:prstGeom prst="rect">
            <a:avLst/>
          </a:prstGeom>
          <a:noFill/>
          <a:ln/>
        </p:spPr>
        <p:txBody>
          <a:bodyPr wrap="square" lIns="0" tIns="0" rIns="0" bIns="0" rtlCol="0" anchor="t">
            <a:spAutoFit/>
          </a:bodyPr>
          <a:lstStyle/>
          <a:p>
            <a:pPr marL="0" indent="0" algn="l">
              <a:buNone/>
            </a:pPr>
            <a:r>
              <a:rPr lang="en-US" sz="800" b="1" dirty="0">
                <a:solidFill>
                  <a:srgbClr val="0B132B"/>
                </a:solidFill>
                <a:latin typeface="Times New Roman" pitchFamily="34" charset="0"/>
                <a:ea typeface="Times New Roman" pitchFamily="34" charset="-122"/>
                <a:cs typeface="Times New Roman" pitchFamily="34" charset="-120"/>
              </a:rPr>
              <a:t>Red → Stop (High Priority)</a:t>
            </a:r>
            <a:endParaRPr lang="en-US" sz="800" dirty="0"/>
          </a:p>
        </p:txBody>
      </p:sp>
      <p:sp>
        <p:nvSpPr>
          <p:cNvPr id="13" name="Text 9"/>
          <p:cNvSpPr/>
          <p:nvPr/>
        </p:nvSpPr>
        <p:spPr>
          <a:xfrm>
            <a:off x="5315662" y="3155685"/>
            <a:ext cx="1338839" cy="132159"/>
          </a:xfrm>
          <a:prstGeom prst="rect">
            <a:avLst/>
          </a:prstGeom>
          <a:noFill/>
          <a:ln/>
        </p:spPr>
        <p:txBody>
          <a:bodyPr wrap="square" lIns="0" tIns="0" rIns="0" bIns="0" rtlCol="0" anchor="t">
            <a:spAutoFit/>
          </a:bodyPr>
          <a:lstStyle/>
          <a:p>
            <a:pPr marL="0" indent="0" algn="l">
              <a:buNone/>
            </a:pPr>
            <a:r>
              <a:rPr lang="en-US" sz="800" b="1" dirty="0">
                <a:solidFill>
                  <a:srgbClr val="0B132B"/>
                </a:solidFill>
                <a:latin typeface="Times New Roman" pitchFamily="34" charset="0"/>
                <a:ea typeface="Times New Roman" pitchFamily="34" charset="-122"/>
                <a:cs typeface="Times New Roman" pitchFamily="34" charset="-120"/>
              </a:rPr>
              <a:t>Yellow → Wait (Transition)</a:t>
            </a:r>
            <a:endParaRPr lang="en-US" sz="800" dirty="0"/>
          </a:p>
        </p:txBody>
      </p:sp>
      <p:sp>
        <p:nvSpPr>
          <p:cNvPr id="14" name="Text 10"/>
          <p:cNvSpPr/>
          <p:nvPr/>
        </p:nvSpPr>
        <p:spPr>
          <a:xfrm>
            <a:off x="5315662" y="3412860"/>
            <a:ext cx="966081" cy="132159"/>
          </a:xfrm>
          <a:prstGeom prst="rect">
            <a:avLst/>
          </a:prstGeom>
          <a:noFill/>
          <a:ln/>
        </p:spPr>
        <p:txBody>
          <a:bodyPr wrap="none" lIns="0" tIns="0" rIns="0" bIns="0" rtlCol="0" anchor="t">
            <a:spAutoFit/>
          </a:bodyPr>
          <a:lstStyle/>
          <a:p>
            <a:pPr marL="0" indent="0" algn="l">
              <a:buNone/>
            </a:pPr>
            <a:r>
              <a:rPr lang="en-US" sz="800" b="1" dirty="0">
                <a:solidFill>
                  <a:srgbClr val="0B132B"/>
                </a:solidFill>
                <a:latin typeface="Times New Roman" pitchFamily="34" charset="0"/>
                <a:ea typeface="Times New Roman" pitchFamily="34" charset="-122"/>
                <a:cs typeface="Times New Roman" pitchFamily="34" charset="-120"/>
              </a:rPr>
              <a:t>Green → Go (Flow)</a:t>
            </a:r>
            <a:endParaRPr lang="en-US" sz="800" dirty="0"/>
          </a:p>
        </p:txBody>
      </p:sp>
      <p:sp>
        <p:nvSpPr>
          <p:cNvPr id="15" name="Shape 11"/>
          <p:cNvSpPr/>
          <p:nvPr/>
        </p:nvSpPr>
        <p:spPr>
          <a:xfrm>
            <a:off x="342900" y="4593431"/>
            <a:ext cx="8458200" cy="207169"/>
          </a:xfrm>
          <a:prstGeom prst="rect">
            <a:avLst/>
          </a:prstGeom>
          <a:solidFill>
            <a:srgbClr val="000000">
              <a:alpha val="0"/>
            </a:srgbClr>
          </a:solidFill>
          <a:ln/>
        </p:spPr>
      </p:sp>
      <p:sp>
        <p:nvSpPr>
          <p:cNvPr id="16" name="Shape 12"/>
          <p:cNvSpPr/>
          <p:nvPr/>
        </p:nvSpPr>
        <p:spPr>
          <a:xfrm>
            <a:off x="342900" y="4593431"/>
            <a:ext cx="8458200" cy="7144"/>
          </a:xfrm>
          <a:prstGeom prst="rect">
            <a:avLst/>
          </a:prstGeom>
          <a:solidFill>
            <a:srgbClr val="CBD5E0"/>
          </a:solidFill>
          <a:ln/>
        </p:spPr>
      </p:sp>
      <p:sp>
        <p:nvSpPr>
          <p:cNvPr id="17" name="Text 13"/>
          <p:cNvSpPr/>
          <p:nvPr/>
        </p:nvSpPr>
        <p:spPr>
          <a:xfrm>
            <a:off x="342900" y="4686300"/>
            <a:ext cx="1260202" cy="114300"/>
          </a:xfrm>
          <a:prstGeom prst="rect">
            <a:avLst/>
          </a:prstGeom>
          <a:noFill/>
          <a:ln/>
        </p:spPr>
        <p:txBody>
          <a:bodyPr wrap="non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OPERATING SYSTEMS</a:t>
            </a:r>
            <a:endParaRPr lang="en-US" sz="700" dirty="0"/>
          </a:p>
        </p:txBody>
      </p:sp>
      <p:sp>
        <p:nvSpPr>
          <p:cNvPr id="18" name="Text 14"/>
          <p:cNvSpPr/>
          <p:nvPr/>
        </p:nvSpPr>
        <p:spPr>
          <a:xfrm>
            <a:off x="8295847" y="4686300"/>
            <a:ext cx="505253" cy="114300"/>
          </a:xfrm>
          <a:prstGeom prst="rect">
            <a:avLst/>
          </a:prstGeom>
          <a:noFill/>
          <a:ln/>
        </p:spPr>
        <p:txBody>
          <a:bodyPr wrap="non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SLIDE 02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26706"/>
            <a:ext cx="9144000" cy="5143500"/>
          </a:xfrm>
          <a:prstGeom prst="rect">
            <a:avLst/>
          </a:prstGeom>
        </p:spPr>
      </p:pic>
      <p:sp>
        <p:nvSpPr>
          <p:cNvPr id="4" name="Text 0"/>
          <p:cNvSpPr/>
          <p:nvPr/>
        </p:nvSpPr>
        <p:spPr>
          <a:xfrm>
            <a:off x="2433253" y="393330"/>
            <a:ext cx="4115258" cy="246221"/>
          </a:xfrm>
          <a:prstGeom prst="rect">
            <a:avLst/>
          </a:prstGeom>
          <a:noFill/>
          <a:ln/>
        </p:spPr>
        <p:txBody>
          <a:bodyPr wrap="square" lIns="0" tIns="0" rIns="0" bIns="0" rtlCol="0" anchor="t">
            <a:spAutoFit/>
          </a:bodyPr>
          <a:lstStyle/>
          <a:p>
            <a:pPr marL="0" indent="0" algn="l">
              <a:buNone/>
            </a:pPr>
            <a:r>
              <a:rPr lang="en-US" sz="1600" b="1" kern="0" spc="1" dirty="0">
                <a:solidFill>
                  <a:srgbClr val="0B132B"/>
                </a:solidFill>
                <a:latin typeface="Times New Roman" pitchFamily="34" charset="0"/>
                <a:ea typeface="Times New Roman" pitchFamily="34" charset="-122"/>
                <a:cs typeface="Times New Roman" pitchFamily="34" charset="-120"/>
              </a:rPr>
              <a:t>OPERATING SYSTEM: WHY AN RTOS?</a:t>
            </a:r>
            <a:endParaRPr lang="en-US" sz="1600" dirty="0"/>
          </a:p>
        </p:txBody>
      </p:sp>
      <p:sp>
        <p:nvSpPr>
          <p:cNvPr id="5" name="Text 1"/>
          <p:cNvSpPr/>
          <p:nvPr/>
        </p:nvSpPr>
        <p:spPr>
          <a:xfrm>
            <a:off x="460102" y="993696"/>
            <a:ext cx="2286000" cy="196453"/>
          </a:xfrm>
          <a:prstGeom prst="rect">
            <a:avLst/>
          </a:prstGeom>
          <a:noFill/>
          <a:ln/>
        </p:spPr>
        <p:txBody>
          <a:bodyPr wrap="square" lIns="0" tIns="0" rIns="0" bIns="0" rtlCol="0" anchor="t">
            <a:spAutoFit/>
          </a:bodyPr>
          <a:lstStyle/>
          <a:p>
            <a:pPr marL="0" indent="0" algn="l">
              <a:buNone/>
            </a:pPr>
            <a:r>
              <a:rPr lang="en-US" sz="1200" b="1" dirty="0">
                <a:solidFill>
                  <a:srgbClr val="0B132B"/>
                </a:solidFill>
                <a:latin typeface="Times New Roman" pitchFamily="34" charset="0"/>
                <a:ea typeface="Times New Roman" pitchFamily="34" charset="-122"/>
                <a:cs typeface="Times New Roman" pitchFamily="34" charset="-120"/>
              </a:rPr>
              <a:t>REAL-TIME OS</a:t>
            </a:r>
            <a:endParaRPr lang="en-US" sz="1200" dirty="0"/>
          </a:p>
        </p:txBody>
      </p:sp>
      <p:sp>
        <p:nvSpPr>
          <p:cNvPr id="6" name="Shape 2"/>
          <p:cNvSpPr/>
          <p:nvPr/>
        </p:nvSpPr>
        <p:spPr>
          <a:xfrm>
            <a:off x="342900" y="1558052"/>
            <a:ext cx="2286000" cy="607219"/>
          </a:xfrm>
          <a:prstGeom prst="rect">
            <a:avLst/>
          </a:prstGeom>
          <a:solidFill>
            <a:srgbClr val="0B132B"/>
          </a:solidFill>
          <a:ln/>
        </p:spPr>
      </p:sp>
      <p:sp>
        <p:nvSpPr>
          <p:cNvPr id="7" name="Text 3"/>
          <p:cNvSpPr/>
          <p:nvPr/>
        </p:nvSpPr>
        <p:spPr>
          <a:xfrm>
            <a:off x="342900" y="1558052"/>
            <a:ext cx="2286000" cy="750718"/>
          </a:xfrm>
          <a:prstGeom prst="rect">
            <a:avLst/>
          </a:prstGeom>
          <a:noFill/>
          <a:ln/>
        </p:spPr>
        <p:txBody>
          <a:bodyPr wrap="square" lIns="204089" tIns="204089" rIns="204089" bIns="204089" rtlCol="0" anchor="t">
            <a:spAutoFit/>
          </a:bodyPr>
          <a:lstStyle/>
          <a:p>
            <a:pPr marL="0" indent="0" algn="l">
              <a:buNone/>
            </a:pPr>
            <a:r>
              <a:rPr lang="en-US" sz="1100" b="1" dirty="0">
                <a:solidFill>
                  <a:srgbClr val="FFFFFF"/>
                </a:solidFill>
                <a:latin typeface="Times New Roman" pitchFamily="34" charset="0"/>
                <a:ea typeface="Times New Roman" pitchFamily="34" charset="-122"/>
                <a:cs typeface="Times New Roman" pitchFamily="34" charset="-120"/>
              </a:rPr>
              <a:t>Predictability &amp;
Deterministic Response</a:t>
            </a:r>
            <a:endParaRPr lang="en-US" sz="1100" dirty="0"/>
          </a:p>
        </p:txBody>
      </p:sp>
      <p:sp>
        <p:nvSpPr>
          <p:cNvPr id="8" name="Text 4"/>
          <p:cNvSpPr/>
          <p:nvPr/>
        </p:nvSpPr>
        <p:spPr>
          <a:xfrm>
            <a:off x="342900" y="2513759"/>
            <a:ext cx="2286000" cy="484748"/>
          </a:xfrm>
          <a:prstGeom prst="rect">
            <a:avLst/>
          </a:prstGeom>
          <a:noFill/>
          <a:ln/>
        </p:spPr>
        <p:txBody>
          <a:bodyPr wrap="square" lIns="0" tIns="0" rIns="0" bIns="0" rtlCol="0" anchor="t">
            <a:spAutoFit/>
          </a:bodyPr>
          <a:lstStyle/>
          <a:p>
            <a:pPr marL="0" indent="0" algn="l">
              <a:buNone/>
            </a:pPr>
            <a:r>
              <a:rPr lang="en-US" sz="1050" dirty="0">
                <a:solidFill>
                  <a:srgbClr val="4A5568"/>
                </a:solidFill>
                <a:latin typeface="Times New Roman" pitchFamily="34" charset="0"/>
                <a:ea typeface="Times New Roman" pitchFamily="34" charset="-122"/>
                <a:cs typeface="Times New Roman" pitchFamily="34" charset="-120"/>
              </a:rPr>
              <a:t>Unlike general-purpose OS (Windows/Linux), an RTOS guarantees a task will finish within a specific deadline.</a:t>
            </a:r>
            <a:endParaRPr lang="en-US" sz="1050" dirty="0"/>
          </a:p>
        </p:txBody>
      </p:sp>
      <p:sp>
        <p:nvSpPr>
          <p:cNvPr id="9" name="Text 5"/>
          <p:cNvSpPr/>
          <p:nvPr/>
        </p:nvSpPr>
        <p:spPr>
          <a:xfrm>
            <a:off x="3086100" y="1323022"/>
            <a:ext cx="2743200" cy="161583"/>
          </a:xfrm>
          <a:prstGeom prst="rect">
            <a:avLst/>
          </a:prstGeom>
          <a:noFill/>
          <a:ln/>
        </p:spPr>
        <p:txBody>
          <a:bodyPr wrap="squar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QUICK RESPONSE</a:t>
            </a:r>
            <a:endParaRPr lang="en-US" sz="1050" dirty="0"/>
          </a:p>
        </p:txBody>
      </p:sp>
      <p:sp>
        <p:nvSpPr>
          <p:cNvPr id="10" name="Text 6"/>
          <p:cNvSpPr/>
          <p:nvPr/>
        </p:nvSpPr>
        <p:spPr>
          <a:xfrm>
            <a:off x="3086100" y="1693294"/>
            <a:ext cx="2743200" cy="374013"/>
          </a:xfrm>
          <a:prstGeom prst="rect">
            <a:avLst/>
          </a:prstGeom>
          <a:noFill/>
          <a:ln/>
        </p:spPr>
        <p:txBody>
          <a:bodyPr wrap="square" lIns="0" tIns="0" rIns="0" bIns="0" rtlCol="0" anchor="t">
            <a:spAutoFit/>
          </a:bodyPr>
          <a:lstStyle/>
          <a:p>
            <a:pPr marL="0" indent="0" algn="l">
              <a:lnSpc>
                <a:spcPct val="120000"/>
              </a:lnSpc>
              <a:buNone/>
            </a:pPr>
            <a:r>
              <a:rPr lang="en-US" sz="1050" dirty="0">
                <a:solidFill>
                  <a:srgbClr val="4A5568"/>
                </a:solidFill>
                <a:latin typeface="Times New Roman" pitchFamily="34" charset="0"/>
                <a:ea typeface="Times New Roman" pitchFamily="34" charset="-122"/>
                <a:cs typeface="Times New Roman" pitchFamily="34" charset="-120"/>
              </a:rPr>
              <a:t>Minimal latency between a sensor trigger and the signal change.</a:t>
            </a:r>
            <a:endParaRPr lang="en-US" sz="1050" dirty="0"/>
          </a:p>
        </p:txBody>
      </p:sp>
      <p:sp>
        <p:nvSpPr>
          <p:cNvPr id="11" name="Text 7"/>
          <p:cNvSpPr/>
          <p:nvPr/>
        </p:nvSpPr>
        <p:spPr>
          <a:xfrm>
            <a:off x="3086100" y="2836783"/>
            <a:ext cx="2743200" cy="161583"/>
          </a:xfrm>
          <a:prstGeom prst="rect">
            <a:avLst/>
          </a:prstGeom>
          <a:noFill/>
          <a:ln/>
        </p:spPr>
        <p:txBody>
          <a:bodyPr wrap="squar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ACCURATE TIMING</a:t>
            </a:r>
            <a:endParaRPr lang="en-US" sz="1050" dirty="0"/>
          </a:p>
        </p:txBody>
      </p:sp>
      <p:sp>
        <p:nvSpPr>
          <p:cNvPr id="12" name="Text 8"/>
          <p:cNvSpPr/>
          <p:nvPr/>
        </p:nvSpPr>
        <p:spPr>
          <a:xfrm>
            <a:off x="3086100" y="3145044"/>
            <a:ext cx="2743200" cy="374013"/>
          </a:xfrm>
          <a:prstGeom prst="rect">
            <a:avLst/>
          </a:prstGeom>
          <a:noFill/>
          <a:ln/>
        </p:spPr>
        <p:txBody>
          <a:bodyPr wrap="square" lIns="0" tIns="0" rIns="0" bIns="0" rtlCol="0" anchor="t">
            <a:spAutoFit/>
          </a:bodyPr>
          <a:lstStyle/>
          <a:p>
            <a:pPr marL="0" indent="0" algn="l">
              <a:lnSpc>
                <a:spcPct val="120000"/>
              </a:lnSpc>
              <a:buNone/>
            </a:pPr>
            <a:r>
              <a:rPr lang="en-US" sz="1050" dirty="0">
                <a:solidFill>
                  <a:srgbClr val="4A5568"/>
                </a:solidFill>
                <a:latin typeface="Times New Roman" pitchFamily="34" charset="0"/>
                <a:ea typeface="Times New Roman" pitchFamily="34" charset="-122"/>
                <a:cs typeface="Times New Roman" pitchFamily="34" charset="-120"/>
              </a:rPr>
              <a:t>Precise clock management for duration control (e.g., exactly 60s for Red).</a:t>
            </a:r>
            <a:endParaRPr lang="en-US" sz="1050" dirty="0"/>
          </a:p>
        </p:txBody>
      </p:sp>
      <p:sp>
        <p:nvSpPr>
          <p:cNvPr id="13" name="Text 9"/>
          <p:cNvSpPr/>
          <p:nvPr/>
        </p:nvSpPr>
        <p:spPr>
          <a:xfrm>
            <a:off x="6107682" y="1381763"/>
            <a:ext cx="2743200" cy="153888"/>
          </a:xfrm>
          <a:prstGeom prst="rect">
            <a:avLst/>
          </a:prstGeom>
          <a:noFill/>
          <a:ln/>
        </p:spPr>
        <p:txBody>
          <a:bodyPr wrap="square" lIns="0" tIns="0" rIns="0" bIns="0" rtlCol="0" anchor="t">
            <a:spAutoFit/>
          </a:bodyPr>
          <a:lstStyle/>
          <a:p>
            <a:pPr marL="0" indent="0" algn="l">
              <a:buNone/>
            </a:pPr>
            <a:r>
              <a:rPr lang="en-US" sz="1000" b="1" dirty="0">
                <a:solidFill>
                  <a:srgbClr val="0B132B"/>
                </a:solidFill>
                <a:latin typeface="Times New Roman" pitchFamily="34" charset="0"/>
                <a:ea typeface="Times New Roman" pitchFamily="34" charset="-122"/>
                <a:cs typeface="Times New Roman" pitchFamily="34" charset="-120"/>
              </a:rPr>
              <a:t>PREDICTABILITY</a:t>
            </a:r>
            <a:endParaRPr lang="en-US" sz="1000" dirty="0"/>
          </a:p>
        </p:txBody>
      </p:sp>
      <p:sp>
        <p:nvSpPr>
          <p:cNvPr id="14" name="Text 10"/>
          <p:cNvSpPr/>
          <p:nvPr/>
        </p:nvSpPr>
        <p:spPr>
          <a:xfrm>
            <a:off x="6107682" y="1634249"/>
            <a:ext cx="2955937" cy="176972"/>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4A5568"/>
                </a:solidFill>
                <a:latin typeface="Times New Roman" pitchFamily="34" charset="0"/>
                <a:ea typeface="Times New Roman" pitchFamily="34" charset="-122"/>
                <a:cs typeface="Times New Roman" pitchFamily="34" charset="-120"/>
              </a:rPr>
              <a:t>Known execution times even under heavy system load</a:t>
            </a:r>
            <a:r>
              <a:rPr lang="en-US" sz="850" dirty="0">
                <a:solidFill>
                  <a:srgbClr val="4A5568"/>
                </a:solidFill>
                <a:latin typeface="Times New Roman" pitchFamily="34" charset="0"/>
                <a:ea typeface="Times New Roman" pitchFamily="34" charset="-122"/>
                <a:cs typeface="Times New Roman" pitchFamily="34" charset="-120"/>
              </a:rPr>
              <a:t>.</a:t>
            </a:r>
            <a:endParaRPr lang="en-US" sz="850" dirty="0"/>
          </a:p>
        </p:txBody>
      </p:sp>
      <p:sp>
        <p:nvSpPr>
          <p:cNvPr id="15" name="Text 11"/>
          <p:cNvSpPr/>
          <p:nvPr/>
        </p:nvSpPr>
        <p:spPr>
          <a:xfrm>
            <a:off x="6116474" y="1918279"/>
            <a:ext cx="2743200" cy="153888"/>
          </a:xfrm>
          <a:prstGeom prst="rect">
            <a:avLst/>
          </a:prstGeom>
          <a:noFill/>
          <a:ln/>
        </p:spPr>
        <p:txBody>
          <a:bodyPr wrap="square" lIns="0" tIns="0" rIns="0" bIns="0" rtlCol="0" anchor="t">
            <a:spAutoFit/>
          </a:bodyPr>
          <a:lstStyle/>
          <a:p>
            <a:pPr marL="0" indent="0" algn="l">
              <a:buNone/>
            </a:pPr>
            <a:r>
              <a:rPr lang="en-US" sz="1000" b="1" dirty="0">
                <a:solidFill>
                  <a:srgbClr val="0B132B"/>
                </a:solidFill>
                <a:latin typeface="Times New Roman" pitchFamily="34" charset="0"/>
                <a:ea typeface="Times New Roman" pitchFamily="34" charset="-122"/>
                <a:cs typeface="Times New Roman" pitchFamily="34" charset="-120"/>
              </a:rPr>
              <a:t>PRIORITY HANDLING</a:t>
            </a:r>
            <a:endParaRPr lang="en-US" sz="1000" dirty="0"/>
          </a:p>
        </p:txBody>
      </p:sp>
      <p:sp>
        <p:nvSpPr>
          <p:cNvPr id="16" name="Text 12"/>
          <p:cNvSpPr/>
          <p:nvPr/>
        </p:nvSpPr>
        <p:spPr>
          <a:xfrm>
            <a:off x="6107682" y="2121466"/>
            <a:ext cx="2743200" cy="374013"/>
          </a:xfrm>
          <a:prstGeom prst="rect">
            <a:avLst/>
          </a:prstGeom>
          <a:noFill/>
          <a:ln/>
        </p:spPr>
        <p:txBody>
          <a:bodyPr wrap="square" lIns="0" tIns="0" rIns="0" bIns="0" rtlCol="0" anchor="t">
            <a:spAutoFit/>
          </a:bodyPr>
          <a:lstStyle/>
          <a:p>
            <a:pPr marL="0" indent="0" algn="l">
              <a:lnSpc>
                <a:spcPct val="120000"/>
              </a:lnSpc>
              <a:buNone/>
            </a:pPr>
            <a:r>
              <a:rPr lang="en-US" sz="1050" dirty="0">
                <a:solidFill>
                  <a:srgbClr val="4A5568"/>
                </a:solidFill>
                <a:latin typeface="Times New Roman" pitchFamily="34" charset="0"/>
                <a:ea typeface="Times New Roman" pitchFamily="34" charset="-122"/>
                <a:cs typeface="Times New Roman" pitchFamily="34" charset="-120"/>
              </a:rPr>
              <a:t>Critical tasks (Emergency override) pre-empt standard signal cycles.</a:t>
            </a:r>
            <a:endParaRPr lang="en-US" sz="1050" dirty="0"/>
          </a:p>
        </p:txBody>
      </p:sp>
      <p:sp>
        <p:nvSpPr>
          <p:cNvPr id="17" name="Shape 13"/>
          <p:cNvSpPr/>
          <p:nvPr/>
        </p:nvSpPr>
        <p:spPr>
          <a:xfrm>
            <a:off x="342900" y="4593431"/>
            <a:ext cx="8458200" cy="207169"/>
          </a:xfrm>
          <a:prstGeom prst="rect">
            <a:avLst/>
          </a:prstGeom>
          <a:solidFill>
            <a:srgbClr val="000000">
              <a:alpha val="0"/>
            </a:srgbClr>
          </a:solidFill>
          <a:ln/>
        </p:spPr>
      </p:sp>
      <p:sp>
        <p:nvSpPr>
          <p:cNvPr id="18" name="Shape 14"/>
          <p:cNvSpPr/>
          <p:nvPr/>
        </p:nvSpPr>
        <p:spPr>
          <a:xfrm>
            <a:off x="342900" y="4593431"/>
            <a:ext cx="8458200" cy="7144"/>
          </a:xfrm>
          <a:prstGeom prst="rect">
            <a:avLst/>
          </a:prstGeom>
          <a:solidFill>
            <a:srgbClr val="CBD5E0"/>
          </a:solidFill>
          <a:ln/>
        </p:spPr>
      </p:sp>
      <p:sp>
        <p:nvSpPr>
          <p:cNvPr id="19" name="Text 15"/>
          <p:cNvSpPr/>
          <p:nvPr/>
        </p:nvSpPr>
        <p:spPr>
          <a:xfrm>
            <a:off x="342900" y="4686300"/>
            <a:ext cx="1260202" cy="114300"/>
          </a:xfrm>
          <a:prstGeom prst="rect">
            <a:avLst/>
          </a:prstGeom>
          <a:noFill/>
          <a:ln/>
        </p:spPr>
        <p:txBody>
          <a:bodyPr wrap="non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OPERATING SYSTEMS</a:t>
            </a:r>
            <a:endParaRPr lang="en-US" sz="700" dirty="0"/>
          </a:p>
        </p:txBody>
      </p:sp>
      <p:sp>
        <p:nvSpPr>
          <p:cNvPr id="20" name="Text 16"/>
          <p:cNvSpPr/>
          <p:nvPr/>
        </p:nvSpPr>
        <p:spPr>
          <a:xfrm>
            <a:off x="8295847" y="4686300"/>
            <a:ext cx="505253" cy="114300"/>
          </a:xfrm>
          <a:prstGeom prst="rect">
            <a:avLst/>
          </a:prstGeom>
          <a:noFill/>
          <a:ln/>
        </p:spPr>
        <p:txBody>
          <a:bodyPr wrap="non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SLIDE 03</a:t>
            </a:r>
            <a:endParaRPr lang="en-US" sz="700" dirty="0"/>
          </a:p>
        </p:txBody>
      </p:sp>
      <p:pic>
        <p:nvPicPr>
          <p:cNvPr id="21" name="Picture 20">
            <a:extLst>
              <a:ext uri="{FF2B5EF4-FFF2-40B4-BE49-F238E27FC236}">
                <a16:creationId xmlns:a16="http://schemas.microsoft.com/office/drawing/2014/main" id="{DE625ABF-7D3D-BCC0-955D-4DF66C600DFF}"/>
              </a:ext>
            </a:extLst>
          </p:cNvPr>
          <p:cNvPicPr>
            <a:picLocks noChangeAspect="1"/>
          </p:cNvPicPr>
          <p:nvPr/>
        </p:nvPicPr>
        <p:blipFill>
          <a:blip r:embed="rId4"/>
          <a:stretch>
            <a:fillRect/>
          </a:stretch>
        </p:blipFill>
        <p:spPr>
          <a:xfrm>
            <a:off x="6116474" y="2697169"/>
            <a:ext cx="2734408" cy="16437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33685"/>
            <a:ext cx="9144000" cy="5143500"/>
          </a:xfrm>
          <a:prstGeom prst="rect">
            <a:avLst/>
          </a:prstGeom>
        </p:spPr>
      </p:pic>
      <p:sp>
        <p:nvSpPr>
          <p:cNvPr id="4" name="Text 0"/>
          <p:cNvSpPr/>
          <p:nvPr/>
        </p:nvSpPr>
        <p:spPr>
          <a:xfrm>
            <a:off x="342900" y="342900"/>
            <a:ext cx="8458200" cy="246221"/>
          </a:xfrm>
          <a:prstGeom prst="rect">
            <a:avLst/>
          </a:prstGeom>
          <a:noFill/>
          <a:ln/>
        </p:spPr>
        <p:txBody>
          <a:bodyPr wrap="square" lIns="0" tIns="0" rIns="0" bIns="0" rtlCol="0" anchor="t">
            <a:spAutoFit/>
          </a:bodyPr>
          <a:lstStyle/>
          <a:p>
            <a:pPr marL="0" indent="0" algn="ctr">
              <a:buNone/>
            </a:pPr>
            <a:r>
              <a:rPr lang="en-US" sz="1600" b="1" kern="0" spc="1" dirty="0">
                <a:solidFill>
                  <a:srgbClr val="0B132B"/>
                </a:solidFill>
                <a:latin typeface="Times New Roman" pitchFamily="34" charset="0"/>
                <a:ea typeface="Times New Roman" pitchFamily="34" charset="-122"/>
                <a:cs typeface="Times New Roman" pitchFamily="34" charset="-120"/>
              </a:rPr>
              <a:t>OS STRUCTURE: FROM CODE TO HARDWARE</a:t>
            </a:r>
            <a:endParaRPr lang="en-US" sz="1600" dirty="0"/>
          </a:p>
        </p:txBody>
      </p:sp>
      <p:sp>
        <p:nvSpPr>
          <p:cNvPr id="5" name="Shape 1"/>
          <p:cNvSpPr/>
          <p:nvPr/>
        </p:nvSpPr>
        <p:spPr>
          <a:xfrm>
            <a:off x="342900" y="1046559"/>
            <a:ext cx="4869135" cy="457200"/>
          </a:xfrm>
          <a:prstGeom prst="rect">
            <a:avLst/>
          </a:prstGeom>
          <a:solidFill>
            <a:srgbClr val="0B132B"/>
          </a:solidFill>
          <a:ln/>
        </p:spPr>
      </p:sp>
      <p:sp>
        <p:nvSpPr>
          <p:cNvPr id="6" name="Text 2"/>
          <p:cNvSpPr/>
          <p:nvPr/>
        </p:nvSpPr>
        <p:spPr>
          <a:xfrm>
            <a:off x="342900" y="1046559"/>
            <a:ext cx="4869135" cy="330860"/>
          </a:xfrm>
          <a:prstGeom prst="rect">
            <a:avLst/>
          </a:prstGeom>
          <a:noFill/>
          <a:ln/>
        </p:spPr>
        <p:txBody>
          <a:bodyPr wrap="square" lIns="204089" tIns="0" rIns="204089" bIns="0" rtlCol="0" anchor="t">
            <a:spAutoFit/>
          </a:bodyPr>
          <a:lstStyle/>
          <a:p>
            <a:pPr marL="0" indent="0" algn="ctr">
              <a:buNone/>
            </a:pPr>
            <a:r>
              <a:rPr lang="en-US" sz="1050" b="1" kern="0" spc="1" dirty="0">
                <a:solidFill>
                  <a:srgbClr val="FFFFFF"/>
                </a:solidFill>
                <a:latin typeface="Times New Roman" pitchFamily="34" charset="0"/>
                <a:ea typeface="Times New Roman" pitchFamily="34" charset="-122"/>
                <a:cs typeface="Times New Roman" pitchFamily="34" charset="-120"/>
              </a:rPr>
              <a:t>TRAFFIC SIGNAL APPLICATION</a:t>
            </a:r>
          </a:p>
          <a:p>
            <a:pPr marL="0" indent="0" algn="ctr">
              <a:buNone/>
            </a:pPr>
            <a:r>
              <a:rPr lang="en-GB" sz="1050" b="1" kern="0" spc="1" dirty="0">
                <a:solidFill>
                  <a:srgbClr val="FFFFFF"/>
                </a:solidFill>
                <a:latin typeface="Times New Roman" pitchFamily="34" charset="0"/>
                <a:cs typeface="Times New Roman" pitchFamily="34" charset="-120"/>
              </a:rPr>
              <a:t>(The logic for controlling the signals)</a:t>
            </a:r>
            <a:endParaRPr lang="en-US" sz="1050" b="1" kern="0" spc="1" dirty="0">
              <a:solidFill>
                <a:srgbClr val="FFFFFF"/>
              </a:solidFill>
              <a:latin typeface="Times New Roman" pitchFamily="34" charset="0"/>
              <a:cs typeface="Times New Roman" pitchFamily="34" charset="-120"/>
            </a:endParaRPr>
          </a:p>
        </p:txBody>
      </p:sp>
      <p:sp>
        <p:nvSpPr>
          <p:cNvPr id="7" name="Shape 3"/>
          <p:cNvSpPr/>
          <p:nvPr/>
        </p:nvSpPr>
        <p:spPr>
          <a:xfrm>
            <a:off x="342900" y="1846659"/>
            <a:ext cx="4869135" cy="457200"/>
          </a:xfrm>
          <a:prstGeom prst="rect">
            <a:avLst/>
          </a:prstGeom>
          <a:solidFill>
            <a:srgbClr val="F8FAFC"/>
          </a:solidFill>
          <a:ln w="18288">
            <a:solidFill>
              <a:srgbClr val="0B132B"/>
            </a:solidFill>
            <a:prstDash val="solid"/>
          </a:ln>
        </p:spPr>
      </p:sp>
      <p:sp>
        <p:nvSpPr>
          <p:cNvPr id="8" name="Text 4"/>
          <p:cNvSpPr/>
          <p:nvPr/>
        </p:nvSpPr>
        <p:spPr>
          <a:xfrm>
            <a:off x="342900" y="1846659"/>
            <a:ext cx="4869135" cy="323165"/>
          </a:xfrm>
          <a:prstGeom prst="rect">
            <a:avLst/>
          </a:prstGeom>
          <a:noFill/>
          <a:ln/>
        </p:spPr>
        <p:txBody>
          <a:bodyPr wrap="square" lIns="204089" tIns="0" rIns="204089" bIns="0" rtlCol="0" anchor="t">
            <a:spAutoFit/>
          </a:bodyPr>
          <a:lstStyle/>
          <a:p>
            <a:pPr marL="0" indent="0" algn="ctr">
              <a:buNone/>
            </a:pPr>
            <a:r>
              <a:rPr lang="en-US" sz="1050" b="1" kern="0" spc="1" dirty="0">
                <a:solidFill>
                  <a:srgbClr val="0B132B"/>
                </a:solidFill>
                <a:latin typeface="Times New Roman" pitchFamily="34" charset="0"/>
                <a:ea typeface="Times New Roman" pitchFamily="34" charset="-122"/>
                <a:cs typeface="Times New Roman" pitchFamily="34" charset="-120"/>
              </a:rPr>
              <a:t>RTOS KERNEL (TASK &amp; TIME MGMT)</a:t>
            </a:r>
          </a:p>
          <a:p>
            <a:pPr algn="ctr"/>
            <a:r>
              <a:rPr lang="en-IN" sz="1050" dirty="0"/>
              <a:t>(manages tasks, timers and priorities.)</a:t>
            </a:r>
            <a:endParaRPr lang="en-US" sz="1050" dirty="0"/>
          </a:p>
        </p:txBody>
      </p:sp>
      <p:sp>
        <p:nvSpPr>
          <p:cNvPr id="9" name="Shape 5"/>
          <p:cNvSpPr/>
          <p:nvPr/>
        </p:nvSpPr>
        <p:spPr>
          <a:xfrm>
            <a:off x="342900" y="2646759"/>
            <a:ext cx="4869135" cy="457200"/>
          </a:xfrm>
          <a:prstGeom prst="rect">
            <a:avLst/>
          </a:prstGeom>
          <a:solidFill>
            <a:srgbClr val="FFFFFF"/>
          </a:solidFill>
          <a:ln w="9144">
            <a:solidFill>
              <a:srgbClr val="CBD5E0"/>
            </a:solidFill>
            <a:prstDash val="solid"/>
          </a:ln>
        </p:spPr>
        <p:txBody>
          <a:bodyPr/>
          <a:lstStyle/>
          <a:p>
            <a:endParaRPr lang="en-IN" dirty="0"/>
          </a:p>
        </p:txBody>
      </p:sp>
      <p:sp>
        <p:nvSpPr>
          <p:cNvPr id="10" name="Text 6"/>
          <p:cNvSpPr/>
          <p:nvPr/>
        </p:nvSpPr>
        <p:spPr>
          <a:xfrm>
            <a:off x="342900" y="2646759"/>
            <a:ext cx="4869135" cy="484748"/>
          </a:xfrm>
          <a:prstGeom prst="rect">
            <a:avLst/>
          </a:prstGeom>
          <a:noFill/>
          <a:ln/>
        </p:spPr>
        <p:txBody>
          <a:bodyPr wrap="square" lIns="204089" tIns="0" rIns="204089" bIns="0" rtlCol="0" anchor="t">
            <a:spAutoFit/>
          </a:bodyPr>
          <a:lstStyle/>
          <a:p>
            <a:pPr marL="0" indent="0" algn="ctr">
              <a:buNone/>
            </a:pPr>
            <a:r>
              <a:rPr lang="en-US" sz="1050" b="1" kern="0" spc="1" dirty="0">
                <a:solidFill>
                  <a:srgbClr val="4A5568"/>
                </a:solidFill>
                <a:latin typeface="Times New Roman" pitchFamily="34" charset="0"/>
                <a:ea typeface="Times New Roman" pitchFamily="34" charset="-122"/>
                <a:cs typeface="Times New Roman" pitchFamily="34" charset="-120"/>
              </a:rPr>
              <a:t>DEVICE DRIVERS (LEDS, SENSORS)</a:t>
            </a:r>
          </a:p>
          <a:p>
            <a:pPr algn="ctr"/>
            <a:r>
              <a:rPr lang="en-IN" sz="1050" dirty="0"/>
              <a:t>(communicate with the traffic lights and sensors.)</a:t>
            </a:r>
            <a:endParaRPr lang="en-US" sz="1050" b="1" kern="0" spc="1" dirty="0">
              <a:solidFill>
                <a:srgbClr val="4A5568"/>
              </a:solidFill>
              <a:latin typeface="Times New Roman" pitchFamily="34" charset="0"/>
              <a:ea typeface="Times New Roman" pitchFamily="34" charset="-122"/>
              <a:cs typeface="Times New Roman" pitchFamily="34" charset="-120"/>
            </a:endParaRPr>
          </a:p>
          <a:p>
            <a:pPr marL="0" indent="0" algn="ctr">
              <a:buNone/>
            </a:pPr>
            <a:endParaRPr lang="en-US" sz="1050" dirty="0"/>
          </a:p>
        </p:txBody>
      </p:sp>
      <p:sp>
        <p:nvSpPr>
          <p:cNvPr id="11" name="Shape 7"/>
          <p:cNvSpPr/>
          <p:nvPr/>
        </p:nvSpPr>
        <p:spPr>
          <a:xfrm>
            <a:off x="342900" y="3446859"/>
            <a:ext cx="4869135" cy="457200"/>
          </a:xfrm>
          <a:prstGeom prst="rect">
            <a:avLst/>
          </a:prstGeom>
          <a:solidFill>
            <a:srgbClr val="CBD5E0"/>
          </a:solidFill>
          <a:ln/>
        </p:spPr>
      </p:sp>
      <p:sp>
        <p:nvSpPr>
          <p:cNvPr id="12" name="Text 8"/>
          <p:cNvSpPr/>
          <p:nvPr/>
        </p:nvSpPr>
        <p:spPr>
          <a:xfrm>
            <a:off x="342900" y="3446859"/>
            <a:ext cx="4869135" cy="284693"/>
          </a:xfrm>
          <a:prstGeom prst="rect">
            <a:avLst/>
          </a:prstGeom>
          <a:noFill/>
          <a:ln/>
        </p:spPr>
        <p:txBody>
          <a:bodyPr wrap="square" lIns="204089" tIns="0" rIns="204089" bIns="0" rtlCol="0" anchor="t">
            <a:spAutoFit/>
          </a:bodyPr>
          <a:lstStyle/>
          <a:p>
            <a:pPr marL="0" indent="0" algn="ctr">
              <a:buNone/>
            </a:pPr>
            <a:r>
              <a:rPr lang="en-US" sz="1050" b="1" kern="0" spc="1" dirty="0">
                <a:solidFill>
                  <a:srgbClr val="0B132B"/>
                </a:solidFill>
                <a:latin typeface="Times New Roman" pitchFamily="34" charset="0"/>
                <a:ea typeface="Times New Roman" pitchFamily="34" charset="-122"/>
                <a:cs typeface="Times New Roman" pitchFamily="34" charset="-120"/>
              </a:rPr>
              <a:t>MICROCONTROLLER (CPU/IO</a:t>
            </a:r>
            <a:r>
              <a:rPr lang="en-US" sz="800" b="1" kern="0" spc="1" dirty="0">
                <a:solidFill>
                  <a:srgbClr val="0B132B"/>
                </a:solidFill>
                <a:latin typeface="Times New Roman" pitchFamily="34" charset="0"/>
                <a:ea typeface="Times New Roman" pitchFamily="34" charset="-122"/>
                <a:cs typeface="Times New Roman" pitchFamily="34" charset="-120"/>
              </a:rPr>
              <a:t>)</a:t>
            </a:r>
          </a:p>
          <a:p>
            <a:pPr marL="0" indent="0" algn="ctr">
              <a:buNone/>
            </a:pPr>
            <a:r>
              <a:rPr lang="en-US" sz="800" b="1" kern="0" spc="1" dirty="0">
                <a:solidFill>
                  <a:srgbClr val="0B132B"/>
                </a:solidFill>
                <a:latin typeface="Times New Roman" pitchFamily="34" charset="0"/>
                <a:cs typeface="Times New Roman" pitchFamily="34" charset="-120"/>
              </a:rPr>
              <a:t>(Which  actually controls the physical hardware )</a:t>
            </a:r>
            <a:endParaRPr lang="en-US" sz="800" dirty="0"/>
          </a:p>
        </p:txBody>
      </p:sp>
      <p:sp>
        <p:nvSpPr>
          <p:cNvPr id="13" name="Shape 9"/>
          <p:cNvSpPr/>
          <p:nvPr/>
        </p:nvSpPr>
        <p:spPr>
          <a:xfrm>
            <a:off x="342900" y="4246959"/>
            <a:ext cx="4869135" cy="457200"/>
          </a:xfrm>
          <a:prstGeom prst="rect">
            <a:avLst/>
          </a:prstGeom>
          <a:solidFill>
            <a:srgbClr val="A0AEC0"/>
          </a:solidFill>
          <a:ln/>
        </p:spPr>
      </p:sp>
      <p:sp>
        <p:nvSpPr>
          <p:cNvPr id="14" name="Text 10"/>
          <p:cNvSpPr/>
          <p:nvPr/>
        </p:nvSpPr>
        <p:spPr>
          <a:xfrm>
            <a:off x="342900" y="4246959"/>
            <a:ext cx="4869135" cy="161583"/>
          </a:xfrm>
          <a:prstGeom prst="rect">
            <a:avLst/>
          </a:prstGeom>
          <a:noFill/>
          <a:ln/>
        </p:spPr>
        <p:txBody>
          <a:bodyPr wrap="square" lIns="204089" tIns="0" rIns="204089" bIns="0" rtlCol="0" anchor="t">
            <a:spAutoFit/>
          </a:bodyPr>
          <a:lstStyle/>
          <a:p>
            <a:pPr marL="0" indent="0" algn="ctr">
              <a:buNone/>
            </a:pPr>
            <a:r>
              <a:rPr lang="en-US" sz="1050" b="1" kern="0" spc="1" dirty="0">
                <a:solidFill>
                  <a:srgbClr val="0B132B"/>
                </a:solidFill>
                <a:latin typeface="Times New Roman" pitchFamily="34" charset="0"/>
                <a:ea typeface="Times New Roman" pitchFamily="34" charset="-122"/>
                <a:cs typeface="Times New Roman" pitchFamily="34" charset="-120"/>
              </a:rPr>
              <a:t>TRAFFIC LIGHT HARDWARE</a:t>
            </a:r>
            <a:endParaRPr lang="en-US" sz="1050" dirty="0"/>
          </a:p>
        </p:txBody>
      </p:sp>
      <p:pic>
        <p:nvPicPr>
          <p:cNvPr id="15" name="Image 1" descr="preencoded.png"/>
          <p:cNvPicPr>
            <a:picLocks noChangeAspect="1"/>
          </p:cNvPicPr>
          <p:nvPr/>
        </p:nvPicPr>
        <p:blipFill>
          <a:blip r:embed="rId4"/>
          <a:stretch>
            <a:fillRect/>
          </a:stretch>
        </p:blipFill>
        <p:spPr>
          <a:xfrm>
            <a:off x="5516147" y="1310153"/>
            <a:ext cx="2954610" cy="1594825"/>
          </a:xfrm>
          <a:prstGeom prst="rect">
            <a:avLst/>
          </a:prstGeom>
        </p:spPr>
      </p:pic>
      <p:sp>
        <p:nvSpPr>
          <p:cNvPr id="16" name="Text 11"/>
          <p:cNvSpPr/>
          <p:nvPr/>
        </p:nvSpPr>
        <p:spPr>
          <a:xfrm>
            <a:off x="5585269" y="3154031"/>
            <a:ext cx="3103234" cy="161583"/>
          </a:xfrm>
          <a:prstGeom prst="rect">
            <a:avLst/>
          </a:prstGeom>
          <a:noFill/>
          <a:ln/>
        </p:spPr>
        <p:txBody>
          <a:bodyPr wrap="square" lIns="0" tIns="0" rIns="0" bIns="0" rtlCol="0" anchor="t">
            <a:spAutoFit/>
          </a:bodyPr>
          <a:lstStyle/>
          <a:p>
            <a:pPr marL="127000" indent="-127000" algn="l">
              <a:buSzPct val="100000"/>
              <a:buChar char="▪"/>
            </a:pPr>
            <a:r>
              <a:rPr lang="en-US" sz="1050" b="1" dirty="0">
                <a:solidFill>
                  <a:srgbClr val="4A5568"/>
                </a:solidFill>
                <a:latin typeface="Times New Roman" pitchFamily="34" charset="0"/>
                <a:ea typeface="Times New Roman" pitchFamily="34" charset="-122"/>
                <a:cs typeface="Times New Roman" pitchFamily="34" charset="-120"/>
              </a:rPr>
              <a:t>Application:</a:t>
            </a:r>
            <a:r>
              <a:rPr lang="en-US" sz="1050" dirty="0">
                <a:solidFill>
                  <a:srgbClr val="4A5568"/>
                </a:solidFill>
                <a:latin typeface="Times New Roman" pitchFamily="34" charset="0"/>
                <a:ea typeface="Times New Roman" pitchFamily="34" charset="-122"/>
                <a:cs typeface="Times New Roman" pitchFamily="34" charset="-120"/>
              </a:rPr>
              <a:t> Logic for signal sequences</a:t>
            </a:r>
            <a:r>
              <a:rPr lang="en-US" sz="800" dirty="0">
                <a:solidFill>
                  <a:srgbClr val="4A5568"/>
                </a:solidFill>
                <a:latin typeface="Times New Roman" pitchFamily="34" charset="0"/>
                <a:ea typeface="Times New Roman" pitchFamily="34" charset="-122"/>
                <a:cs typeface="Times New Roman" pitchFamily="34" charset="-120"/>
              </a:rPr>
              <a:t>.</a:t>
            </a:r>
            <a:endParaRPr lang="en-US" sz="750" dirty="0"/>
          </a:p>
        </p:txBody>
      </p:sp>
      <p:sp>
        <p:nvSpPr>
          <p:cNvPr id="17" name="Text 12"/>
          <p:cNvSpPr/>
          <p:nvPr/>
        </p:nvSpPr>
        <p:spPr>
          <a:xfrm>
            <a:off x="5585269" y="3437134"/>
            <a:ext cx="3103234" cy="161583"/>
          </a:xfrm>
          <a:prstGeom prst="rect">
            <a:avLst/>
          </a:prstGeom>
          <a:noFill/>
          <a:ln/>
        </p:spPr>
        <p:txBody>
          <a:bodyPr wrap="square" lIns="0" tIns="0" rIns="0" bIns="0" rtlCol="0" anchor="t">
            <a:spAutoFit/>
          </a:bodyPr>
          <a:lstStyle/>
          <a:p>
            <a:pPr marL="127000" indent="-127000" algn="l">
              <a:buSzPct val="100000"/>
              <a:buChar char="▪"/>
            </a:pPr>
            <a:r>
              <a:rPr lang="en-US" sz="1050" b="1" dirty="0">
                <a:solidFill>
                  <a:srgbClr val="4A5568"/>
                </a:solidFill>
                <a:latin typeface="Times New Roman" pitchFamily="34" charset="0"/>
                <a:ea typeface="Times New Roman" pitchFamily="34" charset="-122"/>
                <a:cs typeface="Times New Roman" pitchFamily="34" charset="-120"/>
              </a:rPr>
              <a:t>Kernel:</a:t>
            </a:r>
            <a:r>
              <a:rPr lang="en-US" sz="1050" dirty="0">
                <a:solidFill>
                  <a:srgbClr val="4A5568"/>
                </a:solidFill>
                <a:latin typeface="Times New Roman" pitchFamily="34" charset="0"/>
                <a:ea typeface="Times New Roman" pitchFamily="34" charset="-122"/>
                <a:cs typeface="Times New Roman" pitchFamily="34" charset="-120"/>
              </a:rPr>
              <a:t> Manages priorities and multitasking</a:t>
            </a:r>
            <a:r>
              <a:rPr lang="en-US" sz="800" dirty="0">
                <a:solidFill>
                  <a:srgbClr val="4A5568"/>
                </a:solidFill>
                <a:latin typeface="Times New Roman" pitchFamily="34" charset="0"/>
                <a:ea typeface="Times New Roman" pitchFamily="34" charset="-122"/>
                <a:cs typeface="Times New Roman" pitchFamily="34" charset="-120"/>
              </a:rPr>
              <a:t>.</a:t>
            </a:r>
            <a:endParaRPr lang="en-US" sz="750" dirty="0"/>
          </a:p>
        </p:txBody>
      </p:sp>
      <p:sp>
        <p:nvSpPr>
          <p:cNvPr id="18" name="Text 13"/>
          <p:cNvSpPr/>
          <p:nvPr/>
        </p:nvSpPr>
        <p:spPr>
          <a:xfrm>
            <a:off x="5585269" y="3716973"/>
            <a:ext cx="3103234" cy="161583"/>
          </a:xfrm>
          <a:prstGeom prst="rect">
            <a:avLst/>
          </a:prstGeom>
          <a:noFill/>
          <a:ln/>
        </p:spPr>
        <p:txBody>
          <a:bodyPr wrap="square" lIns="0" tIns="0" rIns="0" bIns="0" rtlCol="0" anchor="t">
            <a:spAutoFit/>
          </a:bodyPr>
          <a:lstStyle/>
          <a:p>
            <a:pPr marL="127000" indent="-127000" algn="l">
              <a:buSzPct val="100000"/>
              <a:buChar char="▪"/>
            </a:pPr>
            <a:r>
              <a:rPr lang="en-US" sz="1050" b="1" dirty="0">
                <a:solidFill>
                  <a:srgbClr val="4A5568"/>
                </a:solidFill>
                <a:latin typeface="Times New Roman" pitchFamily="34" charset="0"/>
                <a:ea typeface="Times New Roman" pitchFamily="34" charset="-122"/>
                <a:cs typeface="Times New Roman" pitchFamily="34" charset="-120"/>
              </a:rPr>
              <a:t>Drivers:</a:t>
            </a:r>
            <a:r>
              <a:rPr lang="en-US" sz="1050" dirty="0">
                <a:solidFill>
                  <a:srgbClr val="4A5568"/>
                </a:solidFill>
                <a:latin typeface="Times New Roman" pitchFamily="34" charset="0"/>
                <a:ea typeface="Times New Roman" pitchFamily="34" charset="-122"/>
                <a:cs typeface="Times New Roman" pitchFamily="34" charset="-120"/>
              </a:rPr>
              <a:t> Bridge software logic to electrical signals</a:t>
            </a:r>
            <a:r>
              <a:rPr lang="en-US" sz="800" dirty="0">
                <a:solidFill>
                  <a:srgbClr val="4A5568"/>
                </a:solidFill>
                <a:latin typeface="Times New Roman" pitchFamily="34" charset="0"/>
                <a:ea typeface="Times New Roman" pitchFamily="34" charset="-122"/>
                <a:cs typeface="Times New Roman" pitchFamily="34" charset="-120"/>
              </a:rPr>
              <a:t>.</a:t>
            </a:r>
            <a:endParaRPr lang="en-US" sz="750" dirty="0"/>
          </a:p>
        </p:txBody>
      </p:sp>
      <p:sp>
        <p:nvSpPr>
          <p:cNvPr id="19" name="Text 14"/>
          <p:cNvSpPr/>
          <p:nvPr/>
        </p:nvSpPr>
        <p:spPr>
          <a:xfrm>
            <a:off x="5585269" y="3963831"/>
            <a:ext cx="3103234" cy="161583"/>
          </a:xfrm>
          <a:prstGeom prst="rect">
            <a:avLst/>
          </a:prstGeom>
          <a:noFill/>
          <a:ln/>
        </p:spPr>
        <p:txBody>
          <a:bodyPr wrap="square" lIns="0" tIns="0" rIns="0" bIns="0" rtlCol="0" anchor="t">
            <a:spAutoFit/>
          </a:bodyPr>
          <a:lstStyle/>
          <a:p>
            <a:pPr marL="127000" indent="-127000" algn="l">
              <a:buSzPct val="100000"/>
              <a:buChar char="▪"/>
            </a:pPr>
            <a:r>
              <a:rPr lang="en-US" sz="1050" b="1" dirty="0">
                <a:solidFill>
                  <a:srgbClr val="4A5568"/>
                </a:solidFill>
                <a:latin typeface="Times New Roman" pitchFamily="34" charset="0"/>
                <a:ea typeface="Times New Roman" pitchFamily="34" charset="-122"/>
                <a:cs typeface="Times New Roman" pitchFamily="34" charset="-120"/>
              </a:rPr>
              <a:t>Hardware:</a:t>
            </a:r>
            <a:r>
              <a:rPr lang="en-US" sz="1050" dirty="0">
                <a:solidFill>
                  <a:srgbClr val="4A5568"/>
                </a:solidFill>
                <a:latin typeface="Times New Roman" pitchFamily="34" charset="0"/>
                <a:ea typeface="Times New Roman" pitchFamily="34" charset="-122"/>
                <a:cs typeface="Times New Roman" pitchFamily="34" charset="-120"/>
              </a:rPr>
              <a:t> Physical execution environment</a:t>
            </a:r>
            <a:r>
              <a:rPr lang="en-US" sz="800" dirty="0">
                <a:solidFill>
                  <a:srgbClr val="4A5568"/>
                </a:solidFill>
                <a:latin typeface="Times New Roman" pitchFamily="34" charset="0"/>
                <a:ea typeface="Times New Roman" pitchFamily="34" charset="-122"/>
                <a:cs typeface="Times New Roman" pitchFamily="34" charset="-120"/>
              </a:rPr>
              <a:t>.</a:t>
            </a:r>
            <a:endParaRPr lang="en-US" sz="750" dirty="0"/>
          </a:p>
        </p:txBody>
      </p:sp>
      <p:sp>
        <p:nvSpPr>
          <p:cNvPr id="20" name="Shape 15"/>
          <p:cNvSpPr/>
          <p:nvPr/>
        </p:nvSpPr>
        <p:spPr>
          <a:xfrm>
            <a:off x="342900" y="4707731"/>
            <a:ext cx="8458200" cy="92869"/>
          </a:xfrm>
          <a:prstGeom prst="rect">
            <a:avLst/>
          </a:prstGeom>
          <a:solidFill>
            <a:srgbClr val="000000">
              <a:alpha val="0"/>
            </a:srgbClr>
          </a:solidFill>
          <a:ln/>
        </p:spPr>
      </p:sp>
      <p:sp>
        <p:nvSpPr>
          <p:cNvPr id="21" name="Shape 16"/>
          <p:cNvSpPr/>
          <p:nvPr/>
        </p:nvSpPr>
        <p:spPr>
          <a:xfrm>
            <a:off x="342900" y="4707731"/>
            <a:ext cx="8458200" cy="7144"/>
          </a:xfrm>
          <a:prstGeom prst="rect">
            <a:avLst/>
          </a:prstGeom>
          <a:solidFill>
            <a:srgbClr val="CBD5E0"/>
          </a:solidFill>
          <a:ln/>
        </p:spPr>
      </p:sp>
      <p:sp>
        <p:nvSpPr>
          <p:cNvPr id="22" name="Text 17"/>
          <p:cNvSpPr/>
          <p:nvPr/>
        </p:nvSpPr>
        <p:spPr>
          <a:xfrm>
            <a:off x="342900" y="4707731"/>
            <a:ext cx="8458200" cy="92869"/>
          </a:xfrm>
          <a:prstGeom prst="rect">
            <a:avLst/>
          </a:prstGeom>
          <a:noFill/>
          <a:ln/>
        </p:spPr>
        <p:txBody>
          <a:bodyPr wrap="square" lIns="0" tIns="102108" rIns="0" bIns="0" rtlCol="0" anchor="t">
            <a:spAutoFit/>
          </a:bodyPr>
          <a:lstStyle/>
          <a:p>
            <a:pPr marL="0" indent="0" algn="l">
              <a:buNone/>
            </a:pP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42900" y="342900"/>
            <a:ext cx="8458200" cy="246221"/>
          </a:xfrm>
          <a:prstGeom prst="rect">
            <a:avLst/>
          </a:prstGeom>
          <a:noFill/>
          <a:ln/>
        </p:spPr>
        <p:txBody>
          <a:bodyPr wrap="square" lIns="0" tIns="0" rIns="0" bIns="0" rtlCol="0" anchor="t">
            <a:spAutoFit/>
          </a:bodyPr>
          <a:lstStyle/>
          <a:p>
            <a:pPr marL="0" indent="0" algn="ctr">
              <a:buNone/>
            </a:pPr>
            <a:r>
              <a:rPr lang="en-US" sz="1600" b="1" kern="0" spc="1" dirty="0">
                <a:solidFill>
                  <a:srgbClr val="0B132B"/>
                </a:solidFill>
                <a:latin typeface="Times New Roman" pitchFamily="34" charset="0"/>
                <a:ea typeface="Times New Roman" pitchFamily="34" charset="-122"/>
                <a:cs typeface="Times New Roman" pitchFamily="34" charset="-120"/>
              </a:rPr>
              <a:t>TRAFFIC SIGNAL WORKING</a:t>
            </a:r>
            <a:endParaRPr lang="en-US" sz="1600" dirty="0"/>
          </a:p>
        </p:txBody>
      </p:sp>
      <p:sp>
        <p:nvSpPr>
          <p:cNvPr id="5" name="Text 1"/>
          <p:cNvSpPr/>
          <p:nvPr/>
        </p:nvSpPr>
        <p:spPr>
          <a:xfrm>
            <a:off x="1678781" y="1416248"/>
            <a:ext cx="285335" cy="161583"/>
          </a:xfrm>
          <a:prstGeom prst="rect">
            <a:avLst/>
          </a:prstGeom>
          <a:noFill/>
          <a:ln/>
        </p:spPr>
        <p:txBody>
          <a:bodyPr wrap="non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RED</a:t>
            </a:r>
            <a:endParaRPr lang="en-US" sz="1050" dirty="0"/>
          </a:p>
        </p:txBody>
      </p:sp>
      <p:sp>
        <p:nvSpPr>
          <p:cNvPr id="6" name="Shape 2"/>
          <p:cNvSpPr/>
          <p:nvPr/>
        </p:nvSpPr>
        <p:spPr>
          <a:xfrm>
            <a:off x="2804257" y="1396603"/>
            <a:ext cx="253268" cy="171450"/>
          </a:xfrm>
          <a:prstGeom prst="rect">
            <a:avLst/>
          </a:prstGeom>
          <a:solidFill>
            <a:srgbClr val="F8FAFC"/>
          </a:solidFill>
          <a:ln/>
        </p:spPr>
      </p:sp>
      <p:sp>
        <p:nvSpPr>
          <p:cNvPr id="7" name="Text 3"/>
          <p:cNvSpPr/>
          <p:nvPr/>
        </p:nvSpPr>
        <p:spPr>
          <a:xfrm>
            <a:off x="2804257" y="1396603"/>
            <a:ext cx="325025" cy="230319"/>
          </a:xfrm>
          <a:prstGeom prst="rect">
            <a:avLst/>
          </a:prstGeom>
          <a:noFill/>
          <a:ln/>
        </p:spPr>
        <p:txBody>
          <a:bodyPr wrap="none" lIns="68072" tIns="34036" rIns="68072" bIns="34036" rtlCol="0" anchor="t">
            <a:spAutoFit/>
          </a:bodyPr>
          <a:lstStyle/>
          <a:p>
            <a:pPr marL="0" indent="0" algn="l">
              <a:buNone/>
            </a:pPr>
            <a:r>
              <a:rPr lang="en-US" sz="1050" b="1" dirty="0">
                <a:solidFill>
                  <a:srgbClr val="4A5568"/>
                </a:solidFill>
                <a:latin typeface="Times New Roman" pitchFamily="34" charset="0"/>
                <a:ea typeface="Times New Roman" pitchFamily="34" charset="-122"/>
                <a:cs typeface="Times New Roman" pitchFamily="34" charset="-120"/>
              </a:rPr>
              <a:t>60s</a:t>
            </a:r>
            <a:endParaRPr lang="en-US" sz="1050" dirty="0"/>
          </a:p>
        </p:txBody>
      </p:sp>
      <p:sp>
        <p:nvSpPr>
          <p:cNvPr id="8" name="Shape 4"/>
          <p:cNvSpPr/>
          <p:nvPr/>
        </p:nvSpPr>
        <p:spPr>
          <a:xfrm>
            <a:off x="2336006" y="1839516"/>
            <a:ext cx="14288" cy="214313"/>
          </a:xfrm>
          <a:prstGeom prst="rect">
            <a:avLst/>
          </a:prstGeom>
          <a:solidFill>
            <a:srgbClr val="CBD5E0"/>
          </a:solidFill>
          <a:ln/>
        </p:spPr>
      </p:sp>
      <p:sp>
        <p:nvSpPr>
          <p:cNvPr id="9" name="Text 5"/>
          <p:cNvSpPr/>
          <p:nvPr/>
        </p:nvSpPr>
        <p:spPr>
          <a:xfrm>
            <a:off x="1678781" y="2344936"/>
            <a:ext cx="479298" cy="161583"/>
          </a:xfrm>
          <a:prstGeom prst="rect">
            <a:avLst/>
          </a:prstGeom>
          <a:noFill/>
          <a:ln/>
        </p:spPr>
        <p:txBody>
          <a:bodyPr wrap="non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GREEN</a:t>
            </a:r>
            <a:endParaRPr lang="en-US" sz="1050" dirty="0"/>
          </a:p>
        </p:txBody>
      </p:sp>
      <p:sp>
        <p:nvSpPr>
          <p:cNvPr id="10" name="Shape 6"/>
          <p:cNvSpPr/>
          <p:nvPr/>
        </p:nvSpPr>
        <p:spPr>
          <a:xfrm>
            <a:off x="2804257" y="2325291"/>
            <a:ext cx="253268" cy="171450"/>
          </a:xfrm>
          <a:prstGeom prst="rect">
            <a:avLst/>
          </a:prstGeom>
          <a:solidFill>
            <a:srgbClr val="F8FAFC"/>
          </a:solidFill>
          <a:ln/>
        </p:spPr>
      </p:sp>
      <p:sp>
        <p:nvSpPr>
          <p:cNvPr id="11" name="Text 7"/>
          <p:cNvSpPr/>
          <p:nvPr/>
        </p:nvSpPr>
        <p:spPr>
          <a:xfrm>
            <a:off x="2804257" y="2325291"/>
            <a:ext cx="325025" cy="230319"/>
          </a:xfrm>
          <a:prstGeom prst="rect">
            <a:avLst/>
          </a:prstGeom>
          <a:noFill/>
          <a:ln/>
        </p:spPr>
        <p:txBody>
          <a:bodyPr wrap="none" lIns="68072" tIns="34036" rIns="68072" bIns="34036" rtlCol="0" anchor="t">
            <a:spAutoFit/>
          </a:bodyPr>
          <a:lstStyle/>
          <a:p>
            <a:pPr marL="0" indent="0" algn="l">
              <a:buNone/>
            </a:pPr>
            <a:r>
              <a:rPr lang="en-US" sz="1050" b="1" dirty="0">
                <a:solidFill>
                  <a:srgbClr val="4A5568"/>
                </a:solidFill>
                <a:latin typeface="Times New Roman" pitchFamily="34" charset="0"/>
                <a:ea typeface="Times New Roman" pitchFamily="34" charset="-122"/>
                <a:cs typeface="Times New Roman" pitchFamily="34" charset="-120"/>
              </a:rPr>
              <a:t>45s</a:t>
            </a:r>
            <a:endParaRPr lang="en-US" sz="1050" dirty="0"/>
          </a:p>
        </p:txBody>
      </p:sp>
      <p:sp>
        <p:nvSpPr>
          <p:cNvPr id="12" name="Shape 8"/>
          <p:cNvSpPr/>
          <p:nvPr/>
        </p:nvSpPr>
        <p:spPr>
          <a:xfrm>
            <a:off x="2336006" y="2768203"/>
            <a:ext cx="14288" cy="214313"/>
          </a:xfrm>
          <a:prstGeom prst="rect">
            <a:avLst/>
          </a:prstGeom>
          <a:solidFill>
            <a:srgbClr val="CBD5E0"/>
          </a:solidFill>
          <a:ln/>
        </p:spPr>
      </p:sp>
      <p:sp>
        <p:nvSpPr>
          <p:cNvPr id="13" name="Text 9"/>
          <p:cNvSpPr/>
          <p:nvPr/>
        </p:nvSpPr>
        <p:spPr>
          <a:xfrm>
            <a:off x="1678781" y="3273623"/>
            <a:ext cx="605935" cy="161583"/>
          </a:xfrm>
          <a:prstGeom prst="rect">
            <a:avLst/>
          </a:prstGeom>
          <a:noFill/>
          <a:ln/>
        </p:spPr>
        <p:txBody>
          <a:bodyPr wrap="non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YELLOW</a:t>
            </a:r>
            <a:endParaRPr lang="en-US" sz="1050" dirty="0"/>
          </a:p>
        </p:txBody>
      </p:sp>
      <p:sp>
        <p:nvSpPr>
          <p:cNvPr id="14" name="Shape 10"/>
          <p:cNvSpPr/>
          <p:nvPr/>
        </p:nvSpPr>
        <p:spPr>
          <a:xfrm>
            <a:off x="2854263" y="3253978"/>
            <a:ext cx="203262" cy="171450"/>
          </a:xfrm>
          <a:prstGeom prst="rect">
            <a:avLst/>
          </a:prstGeom>
          <a:solidFill>
            <a:srgbClr val="F8FAFC"/>
          </a:solidFill>
          <a:ln/>
        </p:spPr>
      </p:sp>
      <p:sp>
        <p:nvSpPr>
          <p:cNvPr id="15" name="Text 11"/>
          <p:cNvSpPr/>
          <p:nvPr/>
        </p:nvSpPr>
        <p:spPr>
          <a:xfrm>
            <a:off x="2854263" y="3253978"/>
            <a:ext cx="257699" cy="230319"/>
          </a:xfrm>
          <a:prstGeom prst="rect">
            <a:avLst/>
          </a:prstGeom>
          <a:noFill/>
          <a:ln/>
        </p:spPr>
        <p:txBody>
          <a:bodyPr wrap="none" lIns="68072" tIns="34036" rIns="68072" bIns="34036" rtlCol="0" anchor="t">
            <a:spAutoFit/>
          </a:bodyPr>
          <a:lstStyle/>
          <a:p>
            <a:pPr marL="0" indent="0" algn="l">
              <a:buNone/>
            </a:pPr>
            <a:r>
              <a:rPr lang="en-US" sz="1050" b="1" dirty="0">
                <a:solidFill>
                  <a:srgbClr val="4A5568"/>
                </a:solidFill>
                <a:latin typeface="Times New Roman" pitchFamily="34" charset="0"/>
                <a:ea typeface="Times New Roman" pitchFamily="34" charset="-122"/>
                <a:cs typeface="Times New Roman" pitchFamily="34" charset="-120"/>
              </a:rPr>
              <a:t>5s</a:t>
            </a:r>
            <a:endParaRPr lang="en-US" sz="1050" dirty="0"/>
          </a:p>
        </p:txBody>
      </p:sp>
      <p:sp>
        <p:nvSpPr>
          <p:cNvPr id="16" name="Shape 12"/>
          <p:cNvSpPr/>
          <p:nvPr/>
        </p:nvSpPr>
        <p:spPr>
          <a:xfrm>
            <a:off x="2336006" y="3696891"/>
            <a:ext cx="14288" cy="214313"/>
          </a:xfrm>
          <a:prstGeom prst="rect">
            <a:avLst/>
          </a:prstGeom>
          <a:solidFill>
            <a:srgbClr val="CBD5E0"/>
          </a:solidFill>
          <a:ln/>
        </p:spPr>
      </p:sp>
      <p:sp>
        <p:nvSpPr>
          <p:cNvPr id="17" name="Text 13"/>
          <p:cNvSpPr/>
          <p:nvPr/>
        </p:nvSpPr>
        <p:spPr>
          <a:xfrm>
            <a:off x="1450181" y="4054078"/>
            <a:ext cx="1785938" cy="161583"/>
          </a:xfrm>
          <a:prstGeom prst="rect">
            <a:avLst/>
          </a:prstGeom>
          <a:noFill/>
          <a:ln/>
        </p:spPr>
        <p:txBody>
          <a:bodyPr wrap="square" lIns="204089" tIns="0" rIns="204089" bIns="0" rtlCol="0" anchor="t">
            <a:spAutoFit/>
          </a:bodyPr>
          <a:lstStyle/>
          <a:p>
            <a:pPr marL="0" indent="0" algn="l">
              <a:buNone/>
            </a:pPr>
            <a:r>
              <a:rPr lang="en-US" sz="800" b="1" dirty="0">
                <a:solidFill>
                  <a:srgbClr val="0B132B"/>
                </a:solidFill>
                <a:latin typeface="Times New Roman" pitchFamily="34" charset="0"/>
                <a:ea typeface="Times New Roman" pitchFamily="34" charset="-122"/>
                <a:cs typeface="Times New Roman" pitchFamily="34" charset="-120"/>
              </a:rPr>
              <a:t>RED (</a:t>
            </a:r>
            <a:r>
              <a:rPr lang="en-US" sz="1050" b="1" dirty="0">
                <a:solidFill>
                  <a:srgbClr val="0B132B"/>
                </a:solidFill>
                <a:latin typeface="Times New Roman" pitchFamily="34" charset="0"/>
                <a:ea typeface="Times New Roman" pitchFamily="34" charset="-122"/>
                <a:cs typeface="Times New Roman" pitchFamily="34" charset="-120"/>
              </a:rPr>
              <a:t>REPEAT</a:t>
            </a:r>
            <a:r>
              <a:rPr lang="en-US" sz="800" b="1" dirty="0">
                <a:solidFill>
                  <a:srgbClr val="0B132B"/>
                </a:solidFill>
                <a:latin typeface="Times New Roman" pitchFamily="34" charset="0"/>
                <a:ea typeface="Times New Roman" pitchFamily="34" charset="-122"/>
                <a:cs typeface="Times New Roman" pitchFamily="34" charset="-120"/>
              </a:rPr>
              <a:t>)</a:t>
            </a:r>
            <a:endParaRPr lang="en-US" sz="800" dirty="0"/>
          </a:p>
        </p:txBody>
      </p:sp>
      <p:sp>
        <p:nvSpPr>
          <p:cNvPr id="18" name="Text 14"/>
          <p:cNvSpPr/>
          <p:nvPr/>
        </p:nvSpPr>
        <p:spPr>
          <a:xfrm>
            <a:off x="4800600" y="2007394"/>
            <a:ext cx="4000500" cy="167878"/>
          </a:xfrm>
          <a:prstGeom prst="rect">
            <a:avLst/>
          </a:prstGeom>
          <a:noFill/>
          <a:ln/>
        </p:spPr>
        <p:txBody>
          <a:bodyPr wrap="squar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Standard Cycle Implementation</a:t>
            </a:r>
            <a:endParaRPr lang="en-US" sz="1050" dirty="0"/>
          </a:p>
        </p:txBody>
      </p:sp>
      <p:sp>
        <p:nvSpPr>
          <p:cNvPr id="19" name="Text 15"/>
          <p:cNvSpPr/>
          <p:nvPr/>
        </p:nvSpPr>
        <p:spPr>
          <a:xfrm>
            <a:off x="4800600" y="2346722"/>
            <a:ext cx="1245022" cy="285750"/>
          </a:xfrm>
          <a:prstGeom prst="rect">
            <a:avLst/>
          </a:prstGeom>
          <a:noFill/>
          <a:ln/>
        </p:spPr>
        <p:txBody>
          <a:bodyPr wrap="none" lIns="102108" tIns="102108" rIns="102108" bIns="102108" rtlCol="0" anchor="ctr">
            <a:spAutoFit/>
          </a:bodyPr>
          <a:lstStyle/>
          <a:p>
            <a:pPr marL="0" indent="0" algn="l">
              <a:buNone/>
            </a:pPr>
            <a:r>
              <a:rPr lang="en-US" sz="650" b="1" dirty="0">
                <a:solidFill>
                  <a:srgbClr val="0B132B"/>
                </a:solidFill>
                <a:latin typeface="Times New Roman" pitchFamily="34" charset="0"/>
                <a:ea typeface="Times New Roman" pitchFamily="34" charset="-122"/>
                <a:cs typeface="Times New Roman" pitchFamily="34" charset="-120"/>
              </a:rPr>
              <a:t>SIGNAL STATE</a:t>
            </a:r>
            <a:endParaRPr lang="en-US" sz="650" dirty="0"/>
          </a:p>
        </p:txBody>
      </p:sp>
      <p:sp>
        <p:nvSpPr>
          <p:cNvPr id="20" name="Text 16"/>
          <p:cNvSpPr/>
          <p:nvPr/>
        </p:nvSpPr>
        <p:spPr>
          <a:xfrm>
            <a:off x="6045622" y="2346722"/>
            <a:ext cx="1757753" cy="285750"/>
          </a:xfrm>
          <a:prstGeom prst="rect">
            <a:avLst/>
          </a:prstGeom>
          <a:noFill/>
          <a:ln/>
        </p:spPr>
        <p:txBody>
          <a:bodyPr wrap="square" lIns="102108" tIns="102108" rIns="102108" bIns="102108" rtlCol="0" anchor="ctr">
            <a:spAutoFit/>
          </a:bodyPr>
          <a:lstStyle/>
          <a:p>
            <a:pPr marL="0" indent="0" algn="l">
              <a:buNone/>
            </a:pPr>
            <a:r>
              <a:rPr lang="en-US" sz="650" b="1" dirty="0">
                <a:solidFill>
                  <a:srgbClr val="0B132B"/>
                </a:solidFill>
                <a:latin typeface="Times New Roman" pitchFamily="34" charset="0"/>
                <a:ea typeface="Times New Roman" pitchFamily="34" charset="-122"/>
                <a:cs typeface="Times New Roman" pitchFamily="34" charset="-120"/>
              </a:rPr>
              <a:t>ACTION</a:t>
            </a:r>
            <a:endParaRPr lang="en-US" sz="650" dirty="0"/>
          </a:p>
        </p:txBody>
      </p:sp>
      <p:sp>
        <p:nvSpPr>
          <p:cNvPr id="21" name="Text 17"/>
          <p:cNvSpPr/>
          <p:nvPr/>
        </p:nvSpPr>
        <p:spPr>
          <a:xfrm>
            <a:off x="7803375" y="2346722"/>
            <a:ext cx="997725" cy="285750"/>
          </a:xfrm>
          <a:prstGeom prst="rect">
            <a:avLst/>
          </a:prstGeom>
          <a:noFill/>
          <a:ln/>
        </p:spPr>
        <p:txBody>
          <a:bodyPr wrap="none" lIns="102108" tIns="102108" rIns="102108" bIns="102108" rtlCol="0" anchor="ctr">
            <a:spAutoFit/>
          </a:bodyPr>
          <a:lstStyle/>
          <a:p>
            <a:pPr marL="0" indent="0" algn="l">
              <a:buNone/>
            </a:pPr>
            <a:r>
              <a:rPr lang="en-US" sz="650" b="1" dirty="0">
                <a:solidFill>
                  <a:srgbClr val="0B132B"/>
                </a:solidFill>
                <a:latin typeface="Times New Roman" pitchFamily="34" charset="0"/>
                <a:ea typeface="Times New Roman" pitchFamily="34" charset="-122"/>
                <a:cs typeface="Times New Roman" pitchFamily="34" charset="-120"/>
              </a:rPr>
              <a:t>DURATION</a:t>
            </a:r>
            <a:endParaRPr lang="en-US" sz="650" dirty="0"/>
          </a:p>
        </p:txBody>
      </p:sp>
      <p:sp>
        <p:nvSpPr>
          <p:cNvPr id="22" name="Text 18"/>
          <p:cNvSpPr/>
          <p:nvPr/>
        </p:nvSpPr>
        <p:spPr>
          <a:xfrm>
            <a:off x="4886325" y="2753916"/>
            <a:ext cx="241325" cy="128588"/>
          </a:xfrm>
          <a:prstGeom prst="rect">
            <a:avLst/>
          </a:prstGeom>
          <a:noFill/>
          <a:ln/>
        </p:spPr>
        <p:txBody>
          <a:bodyPr wrap="none" lIns="0" tIns="0" rIns="0" bIns="0" rtlCol="0" anchor="t">
            <a:spAutoFit/>
          </a:bodyPr>
          <a:lstStyle/>
          <a:p>
            <a:pPr marL="0" indent="0" algn="l">
              <a:buNone/>
            </a:pPr>
            <a:r>
              <a:rPr lang="en-US" sz="800" b="1" dirty="0">
                <a:solidFill>
                  <a:srgbClr val="C53030"/>
                </a:solidFill>
                <a:latin typeface="Times New Roman" pitchFamily="34" charset="0"/>
                <a:ea typeface="Times New Roman" pitchFamily="34" charset="-122"/>
                <a:cs typeface="Times New Roman" pitchFamily="34" charset="-120"/>
              </a:rPr>
              <a:t>RED</a:t>
            </a:r>
            <a:endParaRPr lang="en-US" sz="800" dirty="0"/>
          </a:p>
        </p:txBody>
      </p:sp>
      <p:sp>
        <p:nvSpPr>
          <p:cNvPr id="23" name="Text 19"/>
          <p:cNvSpPr/>
          <p:nvPr/>
        </p:nvSpPr>
        <p:spPr>
          <a:xfrm>
            <a:off x="6045622" y="2632472"/>
            <a:ext cx="1757753" cy="371475"/>
          </a:xfrm>
          <a:prstGeom prst="rect">
            <a:avLst/>
          </a:prstGeom>
          <a:noFill/>
          <a:ln/>
        </p:spPr>
        <p:txBody>
          <a:bodyPr wrap="square" lIns="102108" tIns="136017" rIns="102108" bIns="136017" rtlCol="0" anchor="ctr">
            <a:spAutoFit/>
          </a:bodyPr>
          <a:lstStyle/>
          <a:p>
            <a:pPr marL="0" indent="0" algn="l">
              <a:buNone/>
            </a:pPr>
            <a:r>
              <a:rPr lang="en-US" sz="850" dirty="0">
                <a:solidFill>
                  <a:srgbClr val="0B132B"/>
                </a:solidFill>
                <a:latin typeface="Times New Roman" pitchFamily="34" charset="0"/>
                <a:ea typeface="Times New Roman" pitchFamily="34" charset="-122"/>
                <a:cs typeface="Times New Roman" pitchFamily="34" charset="-120"/>
              </a:rPr>
              <a:t>All movements halted</a:t>
            </a:r>
            <a:endParaRPr lang="en-US" sz="850" dirty="0"/>
          </a:p>
        </p:txBody>
      </p:sp>
      <p:sp>
        <p:nvSpPr>
          <p:cNvPr id="24" name="Text 20"/>
          <p:cNvSpPr/>
          <p:nvPr/>
        </p:nvSpPr>
        <p:spPr>
          <a:xfrm>
            <a:off x="7803375" y="2632472"/>
            <a:ext cx="997725" cy="371475"/>
          </a:xfrm>
          <a:prstGeom prst="rect">
            <a:avLst/>
          </a:prstGeom>
          <a:noFill/>
          <a:ln/>
        </p:spPr>
        <p:txBody>
          <a:bodyPr wrap="none" lIns="102108" tIns="136017" rIns="102108" bIns="136017" rtlCol="0" anchor="ctr">
            <a:spAutoFit/>
          </a:bodyPr>
          <a:lstStyle/>
          <a:p>
            <a:pPr marL="0" indent="0" algn="l">
              <a:buNone/>
            </a:pPr>
            <a:r>
              <a:rPr lang="en-US" sz="850" dirty="0">
                <a:solidFill>
                  <a:srgbClr val="0B132B"/>
                </a:solidFill>
                <a:latin typeface="Times New Roman" pitchFamily="34" charset="0"/>
                <a:ea typeface="Times New Roman" pitchFamily="34" charset="-122"/>
                <a:cs typeface="Times New Roman" pitchFamily="34" charset="-120"/>
              </a:rPr>
              <a:t>60 sec</a:t>
            </a:r>
            <a:endParaRPr lang="en-US" sz="850" dirty="0"/>
          </a:p>
        </p:txBody>
      </p:sp>
      <p:sp>
        <p:nvSpPr>
          <p:cNvPr id="25" name="Text 21"/>
          <p:cNvSpPr/>
          <p:nvPr/>
        </p:nvSpPr>
        <p:spPr>
          <a:xfrm>
            <a:off x="4886325" y="3121819"/>
            <a:ext cx="406468" cy="128588"/>
          </a:xfrm>
          <a:prstGeom prst="rect">
            <a:avLst/>
          </a:prstGeom>
          <a:noFill/>
          <a:ln/>
        </p:spPr>
        <p:txBody>
          <a:bodyPr wrap="none" lIns="0" tIns="0" rIns="0" bIns="0" rtlCol="0" anchor="t">
            <a:spAutoFit/>
          </a:bodyPr>
          <a:lstStyle/>
          <a:p>
            <a:pPr marL="0" indent="0" algn="l">
              <a:buNone/>
            </a:pPr>
            <a:r>
              <a:rPr lang="en-US" sz="800" b="1" dirty="0">
                <a:solidFill>
                  <a:srgbClr val="2F855A"/>
                </a:solidFill>
                <a:latin typeface="Times New Roman" pitchFamily="34" charset="0"/>
                <a:ea typeface="Times New Roman" pitchFamily="34" charset="-122"/>
                <a:cs typeface="Times New Roman" pitchFamily="34" charset="-120"/>
              </a:rPr>
              <a:t>GREEN</a:t>
            </a:r>
            <a:endParaRPr lang="en-US" sz="800" dirty="0"/>
          </a:p>
        </p:txBody>
      </p:sp>
      <p:sp>
        <p:nvSpPr>
          <p:cNvPr id="26" name="Text 22"/>
          <p:cNvSpPr/>
          <p:nvPr/>
        </p:nvSpPr>
        <p:spPr>
          <a:xfrm>
            <a:off x="6045622" y="3003947"/>
            <a:ext cx="1757753" cy="367903"/>
          </a:xfrm>
          <a:prstGeom prst="rect">
            <a:avLst/>
          </a:prstGeom>
          <a:noFill/>
          <a:ln/>
        </p:spPr>
        <p:txBody>
          <a:bodyPr wrap="square" lIns="102108" tIns="136017" rIns="102108" bIns="136017" rtlCol="0" anchor="ctr">
            <a:spAutoFit/>
          </a:bodyPr>
          <a:lstStyle/>
          <a:p>
            <a:pPr marL="0" indent="0" algn="l">
              <a:buNone/>
            </a:pPr>
            <a:r>
              <a:rPr lang="en-US" sz="850" dirty="0">
                <a:solidFill>
                  <a:srgbClr val="0B132B"/>
                </a:solidFill>
                <a:latin typeface="Times New Roman" pitchFamily="34" charset="0"/>
                <a:ea typeface="Times New Roman" pitchFamily="34" charset="-122"/>
                <a:cs typeface="Times New Roman" pitchFamily="34" charset="-120"/>
              </a:rPr>
              <a:t>Primary traffic flow</a:t>
            </a:r>
            <a:endParaRPr lang="en-US" sz="850" dirty="0"/>
          </a:p>
        </p:txBody>
      </p:sp>
      <p:sp>
        <p:nvSpPr>
          <p:cNvPr id="27" name="Text 23"/>
          <p:cNvSpPr/>
          <p:nvPr/>
        </p:nvSpPr>
        <p:spPr>
          <a:xfrm>
            <a:off x="7803375" y="3003947"/>
            <a:ext cx="997725" cy="367903"/>
          </a:xfrm>
          <a:prstGeom prst="rect">
            <a:avLst/>
          </a:prstGeom>
          <a:noFill/>
          <a:ln/>
        </p:spPr>
        <p:txBody>
          <a:bodyPr wrap="none" lIns="102108" tIns="136017" rIns="102108" bIns="136017" rtlCol="0" anchor="ctr">
            <a:spAutoFit/>
          </a:bodyPr>
          <a:lstStyle/>
          <a:p>
            <a:pPr marL="0" indent="0" algn="l">
              <a:buNone/>
            </a:pPr>
            <a:r>
              <a:rPr lang="en-US" sz="850" dirty="0">
                <a:solidFill>
                  <a:srgbClr val="0B132B"/>
                </a:solidFill>
                <a:latin typeface="Times New Roman" pitchFamily="34" charset="0"/>
                <a:ea typeface="Times New Roman" pitchFamily="34" charset="-122"/>
                <a:cs typeface="Times New Roman" pitchFamily="34" charset="-120"/>
              </a:rPr>
              <a:t>45 sec</a:t>
            </a:r>
            <a:endParaRPr lang="en-US" sz="850" dirty="0"/>
          </a:p>
        </p:txBody>
      </p:sp>
      <p:sp>
        <p:nvSpPr>
          <p:cNvPr id="28" name="Text 24"/>
          <p:cNvSpPr/>
          <p:nvPr/>
        </p:nvSpPr>
        <p:spPr>
          <a:xfrm>
            <a:off x="4886325" y="3489722"/>
            <a:ext cx="514462" cy="128588"/>
          </a:xfrm>
          <a:prstGeom prst="rect">
            <a:avLst/>
          </a:prstGeom>
          <a:noFill/>
          <a:ln/>
        </p:spPr>
        <p:txBody>
          <a:bodyPr wrap="none" lIns="0" tIns="0" rIns="0" bIns="0" rtlCol="0" anchor="t">
            <a:spAutoFit/>
          </a:bodyPr>
          <a:lstStyle/>
          <a:p>
            <a:pPr marL="0" indent="0" algn="l">
              <a:buNone/>
            </a:pPr>
            <a:r>
              <a:rPr lang="en-US" sz="800" b="1" dirty="0">
                <a:solidFill>
                  <a:srgbClr val="D69E2E"/>
                </a:solidFill>
                <a:latin typeface="Times New Roman" pitchFamily="34" charset="0"/>
                <a:ea typeface="Times New Roman" pitchFamily="34" charset="-122"/>
                <a:cs typeface="Times New Roman" pitchFamily="34" charset="-120"/>
              </a:rPr>
              <a:t>YELLOW</a:t>
            </a:r>
            <a:endParaRPr lang="en-US" sz="800" dirty="0"/>
          </a:p>
        </p:txBody>
      </p:sp>
      <p:sp>
        <p:nvSpPr>
          <p:cNvPr id="29" name="Text 25"/>
          <p:cNvSpPr/>
          <p:nvPr/>
        </p:nvSpPr>
        <p:spPr>
          <a:xfrm>
            <a:off x="6045622" y="3371850"/>
            <a:ext cx="1757753" cy="367903"/>
          </a:xfrm>
          <a:prstGeom prst="rect">
            <a:avLst/>
          </a:prstGeom>
          <a:noFill/>
          <a:ln/>
        </p:spPr>
        <p:txBody>
          <a:bodyPr wrap="square" lIns="102108" tIns="136017" rIns="102108" bIns="136017" rtlCol="0" anchor="ctr">
            <a:spAutoFit/>
          </a:bodyPr>
          <a:lstStyle/>
          <a:p>
            <a:pPr marL="0" indent="0" algn="l">
              <a:buNone/>
            </a:pPr>
            <a:r>
              <a:rPr lang="en-US" sz="850" dirty="0">
                <a:solidFill>
                  <a:srgbClr val="0B132B"/>
                </a:solidFill>
                <a:latin typeface="Times New Roman" pitchFamily="34" charset="0"/>
                <a:ea typeface="Times New Roman" pitchFamily="34" charset="-122"/>
                <a:cs typeface="Times New Roman" pitchFamily="34" charset="-120"/>
              </a:rPr>
              <a:t>Transition / Stop Prep</a:t>
            </a:r>
            <a:endParaRPr lang="en-US" sz="850" dirty="0"/>
          </a:p>
        </p:txBody>
      </p:sp>
      <p:sp>
        <p:nvSpPr>
          <p:cNvPr id="30" name="Text 26"/>
          <p:cNvSpPr/>
          <p:nvPr/>
        </p:nvSpPr>
        <p:spPr>
          <a:xfrm>
            <a:off x="7803375" y="3371850"/>
            <a:ext cx="997725" cy="367903"/>
          </a:xfrm>
          <a:prstGeom prst="rect">
            <a:avLst/>
          </a:prstGeom>
          <a:noFill/>
          <a:ln/>
        </p:spPr>
        <p:txBody>
          <a:bodyPr wrap="none" lIns="102108" tIns="136017" rIns="102108" bIns="136017" rtlCol="0" anchor="ctr">
            <a:spAutoFit/>
          </a:bodyPr>
          <a:lstStyle/>
          <a:p>
            <a:pPr marL="0" indent="0" algn="l">
              <a:buNone/>
            </a:pPr>
            <a:r>
              <a:rPr lang="en-US" sz="850" dirty="0">
                <a:solidFill>
                  <a:srgbClr val="0B132B"/>
                </a:solidFill>
                <a:latin typeface="Times New Roman" pitchFamily="34" charset="0"/>
                <a:ea typeface="Times New Roman" pitchFamily="34" charset="-122"/>
                <a:cs typeface="Times New Roman" pitchFamily="34" charset="-120"/>
              </a:rPr>
              <a:t>5 sec</a:t>
            </a:r>
            <a:endParaRPr lang="en-US" sz="850" dirty="0"/>
          </a:p>
        </p:txBody>
      </p:sp>
      <p:sp>
        <p:nvSpPr>
          <p:cNvPr id="31" name="Shape 27"/>
          <p:cNvSpPr/>
          <p:nvPr/>
        </p:nvSpPr>
        <p:spPr>
          <a:xfrm>
            <a:off x="342900" y="4593431"/>
            <a:ext cx="8458200" cy="207169"/>
          </a:xfrm>
          <a:prstGeom prst="rect">
            <a:avLst/>
          </a:prstGeom>
          <a:solidFill>
            <a:srgbClr val="000000">
              <a:alpha val="0"/>
            </a:srgbClr>
          </a:solidFill>
          <a:ln/>
        </p:spPr>
      </p:sp>
      <p:sp>
        <p:nvSpPr>
          <p:cNvPr id="32" name="Shape 28"/>
          <p:cNvSpPr/>
          <p:nvPr/>
        </p:nvSpPr>
        <p:spPr>
          <a:xfrm>
            <a:off x="342900" y="4593431"/>
            <a:ext cx="8458200" cy="7144"/>
          </a:xfrm>
          <a:prstGeom prst="rect">
            <a:avLst/>
          </a:prstGeom>
          <a:solidFill>
            <a:srgbClr val="CBD5E0"/>
          </a:solidFill>
          <a:ln/>
        </p:spPr>
      </p:sp>
      <p:sp>
        <p:nvSpPr>
          <p:cNvPr id="33" name="Text 29"/>
          <p:cNvSpPr/>
          <p:nvPr/>
        </p:nvSpPr>
        <p:spPr>
          <a:xfrm>
            <a:off x="342900" y="4686300"/>
            <a:ext cx="1260202" cy="114300"/>
          </a:xfrm>
          <a:prstGeom prst="rect">
            <a:avLst/>
          </a:prstGeom>
          <a:noFill/>
          <a:ln/>
        </p:spPr>
        <p:txBody>
          <a:bodyPr wrap="non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OPERATING SYSTEMS</a:t>
            </a:r>
            <a:endParaRPr lang="en-US" sz="700" dirty="0"/>
          </a:p>
        </p:txBody>
      </p:sp>
      <p:sp>
        <p:nvSpPr>
          <p:cNvPr id="34" name="Text 30"/>
          <p:cNvSpPr/>
          <p:nvPr/>
        </p:nvSpPr>
        <p:spPr>
          <a:xfrm>
            <a:off x="8295847" y="4686300"/>
            <a:ext cx="505253" cy="114300"/>
          </a:xfrm>
          <a:prstGeom prst="rect">
            <a:avLst/>
          </a:prstGeom>
          <a:noFill/>
          <a:ln/>
        </p:spPr>
        <p:txBody>
          <a:bodyPr wrap="non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SLIDE 05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034"/>
            <a:ext cx="9144000" cy="5143500"/>
          </a:xfrm>
          <a:prstGeom prst="rect">
            <a:avLst/>
          </a:prstGeom>
        </p:spPr>
      </p:pic>
      <p:sp>
        <p:nvSpPr>
          <p:cNvPr id="4" name="Text 0"/>
          <p:cNvSpPr/>
          <p:nvPr/>
        </p:nvSpPr>
        <p:spPr>
          <a:xfrm>
            <a:off x="342900" y="342900"/>
            <a:ext cx="8458200" cy="264319"/>
          </a:xfrm>
          <a:prstGeom prst="rect">
            <a:avLst/>
          </a:prstGeom>
          <a:noFill/>
          <a:ln/>
        </p:spPr>
        <p:txBody>
          <a:bodyPr wrap="square" lIns="0" tIns="0" rIns="0" bIns="0" rtlCol="0" anchor="t">
            <a:spAutoFit/>
          </a:bodyPr>
          <a:lstStyle/>
          <a:p>
            <a:pPr marL="0" indent="0" algn="l">
              <a:buNone/>
            </a:pPr>
            <a:r>
              <a:rPr lang="en-US" sz="1600" b="1" kern="0" spc="1" dirty="0">
                <a:solidFill>
                  <a:srgbClr val="0B132B"/>
                </a:solidFill>
                <a:latin typeface="Times New Roman" pitchFamily="34" charset="0"/>
                <a:ea typeface="Times New Roman" pitchFamily="34" charset="-122"/>
                <a:cs typeface="Times New Roman" pitchFamily="34" charset="-120"/>
              </a:rPr>
              <a:t>SYSTEM CALLS &amp; EVENT HANDLING</a:t>
            </a:r>
            <a:endParaRPr lang="en-US" sz="1600" dirty="0"/>
          </a:p>
        </p:txBody>
      </p:sp>
      <p:sp>
        <p:nvSpPr>
          <p:cNvPr id="5" name="Text 1"/>
          <p:cNvSpPr/>
          <p:nvPr/>
        </p:nvSpPr>
        <p:spPr>
          <a:xfrm>
            <a:off x="342900" y="1064419"/>
            <a:ext cx="3688742" cy="161583"/>
          </a:xfrm>
          <a:prstGeom prst="rect">
            <a:avLst/>
          </a:prstGeom>
          <a:noFill/>
          <a:ln/>
        </p:spPr>
        <p:txBody>
          <a:bodyPr wrap="squar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Process Control</a:t>
            </a:r>
            <a:endParaRPr lang="en-US" sz="1050" dirty="0"/>
          </a:p>
        </p:txBody>
      </p:sp>
      <p:sp>
        <p:nvSpPr>
          <p:cNvPr id="6" name="Text 2"/>
          <p:cNvSpPr/>
          <p:nvPr/>
        </p:nvSpPr>
        <p:spPr>
          <a:xfrm>
            <a:off x="342900" y="1271588"/>
            <a:ext cx="3688742" cy="161583"/>
          </a:xfrm>
          <a:prstGeom prst="rect">
            <a:avLst/>
          </a:prstGeom>
          <a:noFill/>
          <a:ln/>
        </p:spPr>
        <p:txBody>
          <a:bodyPr wrap="square" lIns="0" tIns="0" rIns="0" bIns="0" rtlCol="0" anchor="t">
            <a:spAutoFit/>
          </a:bodyPr>
          <a:lstStyle/>
          <a:p>
            <a:pPr marL="0" indent="0" algn="l">
              <a:buNone/>
            </a:pPr>
            <a:r>
              <a:rPr lang="en-US" sz="1050" dirty="0">
                <a:solidFill>
                  <a:srgbClr val="4A5568"/>
                </a:solidFill>
                <a:latin typeface="Times New Roman" pitchFamily="34" charset="0"/>
                <a:ea typeface="Times New Roman" pitchFamily="34" charset="-122"/>
                <a:cs typeface="Times New Roman" pitchFamily="34" charset="-120"/>
              </a:rPr>
              <a:t>Manage signal tasks (Create, Suspend, Terminate</a:t>
            </a:r>
            <a:r>
              <a:rPr lang="en-US" sz="850" dirty="0">
                <a:solidFill>
                  <a:srgbClr val="4A5568"/>
                </a:solidFill>
                <a:latin typeface="Times New Roman" pitchFamily="34" charset="0"/>
                <a:ea typeface="Times New Roman" pitchFamily="34" charset="-122"/>
                <a:cs typeface="Times New Roman" pitchFamily="34" charset="-120"/>
              </a:rPr>
              <a:t>).</a:t>
            </a:r>
            <a:endParaRPr lang="en-US" sz="850" dirty="0"/>
          </a:p>
        </p:txBody>
      </p:sp>
      <p:sp>
        <p:nvSpPr>
          <p:cNvPr id="7" name="Text 3"/>
          <p:cNvSpPr/>
          <p:nvPr/>
        </p:nvSpPr>
        <p:spPr>
          <a:xfrm>
            <a:off x="342900" y="1639491"/>
            <a:ext cx="3688742" cy="161583"/>
          </a:xfrm>
          <a:prstGeom prst="rect">
            <a:avLst/>
          </a:prstGeom>
          <a:noFill/>
          <a:ln/>
        </p:spPr>
        <p:txBody>
          <a:bodyPr wrap="squar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Timer Functions</a:t>
            </a:r>
            <a:endParaRPr lang="en-US" sz="1050" dirty="0"/>
          </a:p>
        </p:txBody>
      </p:sp>
      <p:sp>
        <p:nvSpPr>
          <p:cNvPr id="8" name="Text 4"/>
          <p:cNvSpPr/>
          <p:nvPr/>
        </p:nvSpPr>
        <p:spPr>
          <a:xfrm>
            <a:off x="342900" y="1846659"/>
            <a:ext cx="3688742" cy="161583"/>
          </a:xfrm>
          <a:prstGeom prst="rect">
            <a:avLst/>
          </a:prstGeom>
          <a:noFill/>
          <a:ln/>
        </p:spPr>
        <p:txBody>
          <a:bodyPr wrap="square" lIns="0" tIns="0" rIns="0" bIns="0" rtlCol="0" anchor="t">
            <a:spAutoFit/>
          </a:bodyPr>
          <a:lstStyle/>
          <a:p>
            <a:pPr marL="0" indent="0" algn="l">
              <a:buNone/>
            </a:pPr>
            <a:r>
              <a:rPr lang="en-US" sz="1050" dirty="0">
                <a:solidFill>
                  <a:srgbClr val="4A5568"/>
                </a:solidFill>
                <a:latin typeface="Times New Roman" pitchFamily="34" charset="0"/>
                <a:ea typeface="Times New Roman" pitchFamily="34" charset="-122"/>
                <a:cs typeface="Times New Roman" pitchFamily="34" charset="-120"/>
              </a:rPr>
              <a:t>Handle signal durations and cyclic triggers</a:t>
            </a:r>
            <a:r>
              <a:rPr lang="en-US" sz="850" dirty="0">
                <a:solidFill>
                  <a:srgbClr val="4A5568"/>
                </a:solidFill>
                <a:latin typeface="Times New Roman" pitchFamily="34" charset="0"/>
                <a:ea typeface="Times New Roman" pitchFamily="34" charset="-122"/>
                <a:cs typeface="Times New Roman" pitchFamily="34" charset="-120"/>
              </a:rPr>
              <a:t>.</a:t>
            </a:r>
            <a:endParaRPr lang="en-US" sz="850" dirty="0"/>
          </a:p>
        </p:txBody>
      </p:sp>
      <p:sp>
        <p:nvSpPr>
          <p:cNvPr id="9" name="Text 5"/>
          <p:cNvSpPr/>
          <p:nvPr/>
        </p:nvSpPr>
        <p:spPr>
          <a:xfrm>
            <a:off x="342900" y="2214563"/>
            <a:ext cx="3688742" cy="161583"/>
          </a:xfrm>
          <a:prstGeom prst="rect">
            <a:avLst/>
          </a:prstGeom>
          <a:noFill/>
          <a:ln/>
        </p:spPr>
        <p:txBody>
          <a:bodyPr wrap="squar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Event Handling</a:t>
            </a:r>
            <a:endParaRPr lang="en-US" sz="1050" dirty="0"/>
          </a:p>
        </p:txBody>
      </p:sp>
      <p:sp>
        <p:nvSpPr>
          <p:cNvPr id="10" name="Text 6"/>
          <p:cNvSpPr/>
          <p:nvPr/>
        </p:nvSpPr>
        <p:spPr>
          <a:xfrm>
            <a:off x="342900" y="2421731"/>
            <a:ext cx="3688742" cy="161583"/>
          </a:xfrm>
          <a:prstGeom prst="rect">
            <a:avLst/>
          </a:prstGeom>
          <a:noFill/>
          <a:ln/>
        </p:spPr>
        <p:txBody>
          <a:bodyPr wrap="square" lIns="0" tIns="0" rIns="0" bIns="0" rtlCol="0" anchor="t">
            <a:spAutoFit/>
          </a:bodyPr>
          <a:lstStyle/>
          <a:p>
            <a:pPr marL="0" indent="0" algn="l">
              <a:buNone/>
            </a:pPr>
            <a:r>
              <a:rPr lang="en-US" sz="1050" dirty="0">
                <a:solidFill>
                  <a:srgbClr val="4A5568"/>
                </a:solidFill>
                <a:latin typeface="Times New Roman" pitchFamily="34" charset="0"/>
                <a:ea typeface="Times New Roman" pitchFamily="34" charset="-122"/>
                <a:cs typeface="Times New Roman" pitchFamily="34" charset="-120"/>
              </a:rPr>
              <a:t>Respond to asynchronous sensor inputs (Pedestrian button).</a:t>
            </a:r>
            <a:endParaRPr lang="en-US" sz="1050" dirty="0"/>
          </a:p>
        </p:txBody>
      </p:sp>
      <p:sp>
        <p:nvSpPr>
          <p:cNvPr id="11" name="Text 7"/>
          <p:cNvSpPr/>
          <p:nvPr/>
        </p:nvSpPr>
        <p:spPr>
          <a:xfrm>
            <a:off x="342900" y="2789634"/>
            <a:ext cx="3688742" cy="161583"/>
          </a:xfrm>
          <a:prstGeom prst="rect">
            <a:avLst/>
          </a:prstGeom>
          <a:noFill/>
          <a:ln/>
        </p:spPr>
        <p:txBody>
          <a:bodyPr wrap="square" lIns="0" tIns="0" rIns="0" bIns="0" rtlCol="0" anchor="t">
            <a:spAutoFit/>
          </a:bodyPr>
          <a:lstStyle/>
          <a:p>
            <a:pPr marL="0" indent="0" algn="l">
              <a:buNone/>
            </a:pPr>
            <a:r>
              <a:rPr lang="en-US" sz="1050" b="1" dirty="0">
                <a:solidFill>
                  <a:srgbClr val="0B132B"/>
                </a:solidFill>
                <a:latin typeface="Times New Roman" pitchFamily="34" charset="0"/>
                <a:ea typeface="Times New Roman" pitchFamily="34" charset="-122"/>
                <a:cs typeface="Times New Roman" pitchFamily="34" charset="-120"/>
              </a:rPr>
              <a:t>Device Control</a:t>
            </a:r>
            <a:endParaRPr lang="en-US" sz="1050" dirty="0"/>
          </a:p>
        </p:txBody>
      </p:sp>
      <p:sp>
        <p:nvSpPr>
          <p:cNvPr id="12" name="Text 8"/>
          <p:cNvSpPr/>
          <p:nvPr/>
        </p:nvSpPr>
        <p:spPr>
          <a:xfrm>
            <a:off x="342900" y="2996803"/>
            <a:ext cx="3688742" cy="161583"/>
          </a:xfrm>
          <a:prstGeom prst="rect">
            <a:avLst/>
          </a:prstGeom>
          <a:noFill/>
          <a:ln/>
        </p:spPr>
        <p:txBody>
          <a:bodyPr wrap="square" lIns="0" tIns="0" rIns="0" bIns="0" rtlCol="0" anchor="t">
            <a:spAutoFit/>
          </a:bodyPr>
          <a:lstStyle/>
          <a:p>
            <a:pPr marL="0" indent="0" algn="l">
              <a:buNone/>
            </a:pPr>
            <a:r>
              <a:rPr lang="en-US" sz="1050" dirty="0">
                <a:solidFill>
                  <a:srgbClr val="4A5568"/>
                </a:solidFill>
                <a:latin typeface="Times New Roman" pitchFamily="34" charset="0"/>
                <a:ea typeface="Times New Roman" pitchFamily="34" charset="-122"/>
                <a:cs typeface="Times New Roman" pitchFamily="34" charset="-120"/>
              </a:rPr>
              <a:t>Direct interface with GPIO pins for LED control.</a:t>
            </a:r>
            <a:endParaRPr lang="en-US" sz="1050" dirty="0"/>
          </a:p>
        </p:txBody>
      </p:sp>
      <p:sp>
        <p:nvSpPr>
          <p:cNvPr id="13" name="Shape 9"/>
          <p:cNvSpPr/>
          <p:nvPr/>
        </p:nvSpPr>
        <p:spPr>
          <a:xfrm>
            <a:off x="4374542" y="950119"/>
            <a:ext cx="4426558" cy="3443287"/>
          </a:xfrm>
          <a:prstGeom prst="rect">
            <a:avLst/>
          </a:prstGeom>
          <a:solidFill>
            <a:srgbClr val="F8FAFC"/>
          </a:solidFill>
          <a:ln w="9144">
            <a:solidFill>
              <a:srgbClr val="CBD5E0"/>
            </a:solidFill>
            <a:prstDash val="solid"/>
          </a:ln>
        </p:spPr>
      </p:sp>
      <p:sp>
        <p:nvSpPr>
          <p:cNvPr id="14" name="Text 10"/>
          <p:cNvSpPr/>
          <p:nvPr/>
        </p:nvSpPr>
        <p:spPr>
          <a:xfrm>
            <a:off x="4374542" y="950119"/>
            <a:ext cx="4426558" cy="3850481"/>
          </a:xfrm>
          <a:prstGeom prst="rect">
            <a:avLst/>
          </a:prstGeom>
          <a:noFill/>
          <a:ln/>
        </p:spPr>
        <p:txBody>
          <a:bodyPr wrap="square" lIns="272161" tIns="272161" rIns="272161" bIns="272161" rtlCol="0" anchor="t">
            <a:spAutoFit/>
          </a:bodyPr>
          <a:lstStyle/>
          <a:p>
            <a:pPr marL="0" indent="0" algn="l">
              <a:lnSpc>
                <a:spcPct val="120000"/>
              </a:lnSpc>
              <a:buNone/>
            </a:pPr>
            <a:r>
              <a:rPr lang="en-US" sz="750" dirty="0">
                <a:solidFill>
                  <a:srgbClr val="A0AEC0"/>
                </a:solidFill>
                <a:latin typeface="Times New Roman" pitchFamily="34" charset="0"/>
                <a:ea typeface="Times New Roman" pitchFamily="34" charset="-122"/>
                <a:cs typeface="Times New Roman" pitchFamily="34" charset="-120"/>
              </a:rPr>
              <a:t>// RTOS Transition Logic Example</a:t>
            </a:r>
            <a:r>
              <a:rPr lang="en-US" sz="750" dirty="0">
                <a:solidFill>
                  <a:srgbClr val="0B132B"/>
                </a:solidFill>
                <a:latin typeface="Times New Roman" pitchFamily="34" charset="0"/>
                <a:ea typeface="Times New Roman" pitchFamily="34" charset="-122"/>
                <a:cs typeface="Times New Roman" pitchFamily="34" charset="-120"/>
              </a:rPr>
              <a:t>
</a:t>
            </a:r>
            <a:r>
              <a:rPr lang="en-US" sz="700" b="1" dirty="0">
                <a:solidFill>
                  <a:srgbClr val="0B132B"/>
                </a:solidFill>
                <a:latin typeface="Times New Roman" pitchFamily="34" charset="0"/>
                <a:ea typeface="Times New Roman" pitchFamily="34" charset="-122"/>
                <a:cs typeface="Times New Roman" pitchFamily="34" charset="-120"/>
              </a:rPr>
              <a:t>void</a:t>
            </a:r>
            <a:r>
              <a:rPr lang="en-US" sz="750" dirty="0">
                <a:solidFill>
                  <a:srgbClr val="0B132B"/>
                </a:solidFill>
                <a:latin typeface="Times New Roman" pitchFamily="34" charset="0"/>
                <a:ea typeface="Times New Roman" pitchFamily="34" charset="-122"/>
                <a:cs typeface="Times New Roman" pitchFamily="34" charset="-120"/>
              </a:rPr>
              <a:t> </a:t>
            </a:r>
            <a:r>
              <a:rPr lang="en-US" sz="750" dirty="0">
                <a:solidFill>
                  <a:srgbClr val="2F855A"/>
                </a:solidFill>
                <a:latin typeface="Times New Roman" pitchFamily="34" charset="0"/>
                <a:ea typeface="Times New Roman" pitchFamily="34" charset="-122"/>
                <a:cs typeface="Times New Roman" pitchFamily="34" charset="-120"/>
              </a:rPr>
              <a:t>on_timer_event</a:t>
            </a:r>
            <a:r>
              <a:rPr lang="en-US" sz="750" dirty="0">
                <a:solidFill>
                  <a:srgbClr val="0B132B"/>
                </a:solidFill>
                <a:latin typeface="Times New Roman" pitchFamily="34" charset="0"/>
                <a:ea typeface="Times New Roman" pitchFamily="34" charset="-122"/>
                <a:cs typeface="Times New Roman" pitchFamily="34" charset="-120"/>
              </a:rPr>
              <a:t>() {
</a:t>
            </a:r>
            <a:r>
              <a:rPr lang="en-US" sz="750" dirty="0">
                <a:solidFill>
                  <a:srgbClr val="A0AEC0"/>
                </a:solidFill>
                <a:latin typeface="Times New Roman" pitchFamily="34" charset="0"/>
                <a:ea typeface="Times New Roman" pitchFamily="34" charset="-122"/>
                <a:cs typeface="Times New Roman" pitchFamily="34" charset="-120"/>
              </a:rPr>
              <a:t>// System Call: Change hardware state</a:t>
            </a:r>
            <a:r>
              <a:rPr lang="en-US" sz="750" dirty="0">
                <a:solidFill>
                  <a:srgbClr val="0B132B"/>
                </a:solidFill>
                <a:latin typeface="Times New Roman" pitchFamily="34" charset="0"/>
                <a:ea typeface="Times New Roman" pitchFamily="34" charset="-122"/>
                <a:cs typeface="Times New Roman" pitchFamily="34" charset="-120"/>
              </a:rPr>
              <a:t>
</a:t>
            </a:r>
            <a:r>
              <a:rPr lang="en-US" sz="750" dirty="0">
                <a:solidFill>
                  <a:srgbClr val="2F855A"/>
                </a:solidFill>
                <a:latin typeface="Times New Roman" pitchFamily="34" charset="0"/>
                <a:ea typeface="Times New Roman" pitchFamily="34" charset="-122"/>
                <a:cs typeface="Times New Roman" pitchFamily="34" charset="-120"/>
              </a:rPr>
              <a:t>write_gpio</a:t>
            </a:r>
            <a:r>
              <a:rPr lang="en-US" sz="750" dirty="0">
                <a:solidFill>
                  <a:srgbClr val="0B132B"/>
                </a:solidFill>
                <a:latin typeface="Times New Roman" pitchFamily="34" charset="0"/>
                <a:ea typeface="Times New Roman" pitchFamily="34" charset="-122"/>
                <a:cs typeface="Times New Roman" pitchFamily="34" charset="-120"/>
              </a:rPr>
              <a:t>(GREEN_LED, LOW);
</a:t>
            </a:r>
            <a:r>
              <a:rPr lang="en-US" sz="750" dirty="0">
                <a:solidFill>
                  <a:srgbClr val="2F855A"/>
                </a:solidFill>
                <a:latin typeface="Times New Roman" pitchFamily="34" charset="0"/>
                <a:ea typeface="Times New Roman" pitchFamily="34" charset="-122"/>
                <a:cs typeface="Times New Roman" pitchFamily="34" charset="-120"/>
              </a:rPr>
              <a:t>write_gpio</a:t>
            </a:r>
            <a:r>
              <a:rPr lang="en-US" sz="750" dirty="0">
                <a:solidFill>
                  <a:srgbClr val="0B132B"/>
                </a:solidFill>
                <a:latin typeface="Times New Roman" pitchFamily="34" charset="0"/>
                <a:ea typeface="Times New Roman" pitchFamily="34" charset="-122"/>
                <a:cs typeface="Times New Roman" pitchFamily="34" charset="-120"/>
              </a:rPr>
              <a:t>(YELLOW_LED, HIGH);
 </a:t>
            </a:r>
            <a:r>
              <a:rPr lang="en-US" sz="750" dirty="0">
                <a:solidFill>
                  <a:srgbClr val="A0AEC0"/>
                </a:solidFill>
                <a:latin typeface="Times New Roman" pitchFamily="34" charset="0"/>
                <a:ea typeface="Times New Roman" pitchFamily="34" charset="-122"/>
                <a:cs typeface="Times New Roman" pitchFamily="34" charset="-120"/>
              </a:rPr>
              <a:t>// System Call: Set next timer</a:t>
            </a:r>
            <a:r>
              <a:rPr lang="en-US" sz="750" dirty="0">
                <a:solidFill>
                  <a:srgbClr val="0B132B"/>
                </a:solidFill>
                <a:latin typeface="Times New Roman" pitchFamily="34" charset="0"/>
                <a:ea typeface="Times New Roman" pitchFamily="34" charset="-122"/>
                <a:cs typeface="Times New Roman" pitchFamily="34" charset="-120"/>
              </a:rPr>
              <a:t>
</a:t>
            </a:r>
            <a:r>
              <a:rPr lang="en-US" sz="750" dirty="0">
                <a:solidFill>
                  <a:srgbClr val="2F855A"/>
                </a:solidFill>
                <a:latin typeface="Times New Roman" pitchFamily="34" charset="0"/>
                <a:ea typeface="Times New Roman" pitchFamily="34" charset="-122"/>
                <a:cs typeface="Times New Roman" pitchFamily="34" charset="-120"/>
              </a:rPr>
              <a:t>set_rtos_timer</a:t>
            </a:r>
            <a:r>
              <a:rPr lang="en-US" sz="750" dirty="0">
                <a:solidFill>
                  <a:srgbClr val="0B132B"/>
                </a:solidFill>
                <a:latin typeface="Times New Roman" pitchFamily="34" charset="0"/>
                <a:ea typeface="Times New Roman" pitchFamily="34" charset="-122"/>
                <a:cs typeface="Times New Roman" pitchFamily="34" charset="-120"/>
              </a:rPr>
              <a:t>(5000); </a:t>
            </a:r>
            <a:r>
              <a:rPr lang="en-US" sz="750" dirty="0">
                <a:solidFill>
                  <a:srgbClr val="A0AEC0"/>
                </a:solidFill>
                <a:latin typeface="Times New Roman" pitchFamily="34" charset="0"/>
                <a:ea typeface="Times New Roman" pitchFamily="34" charset="-122"/>
                <a:cs typeface="Times New Roman" pitchFamily="34" charset="-120"/>
              </a:rPr>
              <a:t>// 5 sec delay</a:t>
            </a:r>
            <a:r>
              <a:rPr lang="en-US" sz="750" dirty="0">
                <a:solidFill>
                  <a:srgbClr val="0B132B"/>
                </a:solidFill>
                <a:latin typeface="Times New Roman" pitchFamily="34" charset="0"/>
                <a:ea typeface="Times New Roman" pitchFamily="34" charset="-122"/>
                <a:cs typeface="Times New Roman" pitchFamily="34" charset="-120"/>
              </a:rPr>
              <a:t>
}
 </a:t>
            </a:r>
            <a:r>
              <a:rPr lang="en-US" sz="750" dirty="0">
                <a:solidFill>
                  <a:srgbClr val="A0AEC0"/>
                </a:solidFill>
                <a:latin typeface="Times New Roman" pitchFamily="34" charset="0"/>
                <a:ea typeface="Times New Roman" pitchFamily="34" charset="-122"/>
                <a:cs typeface="Times New Roman" pitchFamily="34" charset="-120"/>
              </a:rPr>
              <a:t>// Triggered by Kernel Scheduler</a:t>
            </a:r>
            <a:endParaRPr lang="en-US" sz="750" dirty="0"/>
          </a:p>
        </p:txBody>
      </p:sp>
      <p:sp>
        <p:nvSpPr>
          <p:cNvPr id="15" name="Shape 11"/>
          <p:cNvSpPr/>
          <p:nvPr/>
        </p:nvSpPr>
        <p:spPr>
          <a:xfrm>
            <a:off x="342900" y="4593431"/>
            <a:ext cx="8458200" cy="207169"/>
          </a:xfrm>
          <a:prstGeom prst="rect">
            <a:avLst/>
          </a:prstGeom>
          <a:solidFill>
            <a:srgbClr val="000000">
              <a:alpha val="0"/>
            </a:srgbClr>
          </a:solidFill>
          <a:ln/>
        </p:spPr>
      </p:sp>
      <p:sp>
        <p:nvSpPr>
          <p:cNvPr id="16" name="Shape 12"/>
          <p:cNvSpPr/>
          <p:nvPr/>
        </p:nvSpPr>
        <p:spPr>
          <a:xfrm>
            <a:off x="342900" y="4593431"/>
            <a:ext cx="8458200" cy="7144"/>
          </a:xfrm>
          <a:prstGeom prst="rect">
            <a:avLst/>
          </a:prstGeom>
          <a:solidFill>
            <a:srgbClr val="CBD5E0"/>
          </a:solidFill>
          <a:ln/>
        </p:spPr>
      </p:sp>
      <p:sp>
        <p:nvSpPr>
          <p:cNvPr id="18" name="Text 14"/>
          <p:cNvSpPr/>
          <p:nvPr/>
        </p:nvSpPr>
        <p:spPr>
          <a:xfrm>
            <a:off x="8295847" y="4686300"/>
            <a:ext cx="505253" cy="114300"/>
          </a:xfrm>
          <a:prstGeom prst="rect">
            <a:avLst/>
          </a:prstGeom>
          <a:noFill/>
          <a:ln/>
        </p:spPr>
        <p:txBody>
          <a:bodyPr wrap="none" lIns="0" tIns="0" rIns="0" bIns="0" rtlCol="0" anchor="t">
            <a:spAutoFit/>
          </a:bodyPr>
          <a:lstStyle/>
          <a:p>
            <a:pPr marL="0" indent="0" algn="l">
              <a:buNone/>
            </a:pPr>
            <a:r>
              <a:rPr lang="en-US" sz="700" b="1" kern="0" spc="1" dirty="0">
                <a:solidFill>
                  <a:srgbClr val="0B132B"/>
                </a:solidFill>
                <a:latin typeface="Times New Roman" pitchFamily="34" charset="0"/>
                <a:ea typeface="Times New Roman" pitchFamily="34" charset="-122"/>
                <a:cs typeface="Times New Roman" pitchFamily="34" charset="-120"/>
              </a:rPr>
              <a:t>SLIDE 06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14068"/>
            <a:ext cx="9144000" cy="5143500"/>
          </a:xfrm>
          <a:prstGeom prst="rect">
            <a:avLst/>
          </a:prstGeom>
        </p:spPr>
      </p:pic>
      <p:sp>
        <p:nvSpPr>
          <p:cNvPr id="4" name="Text 0"/>
          <p:cNvSpPr/>
          <p:nvPr/>
        </p:nvSpPr>
        <p:spPr>
          <a:xfrm>
            <a:off x="342900" y="342900"/>
            <a:ext cx="8458200" cy="264319"/>
          </a:xfrm>
          <a:prstGeom prst="rect">
            <a:avLst/>
          </a:prstGeom>
          <a:noFill/>
          <a:ln/>
        </p:spPr>
        <p:txBody>
          <a:bodyPr wrap="square" lIns="0" tIns="0" rIns="0" bIns="0" rtlCol="0" anchor="t">
            <a:spAutoFit/>
          </a:bodyPr>
          <a:lstStyle/>
          <a:p>
            <a:pPr marL="0" indent="0" algn="l">
              <a:buNone/>
            </a:pPr>
            <a:r>
              <a:rPr lang="en-US" sz="1600" b="1" kern="0" spc="1" dirty="0">
                <a:solidFill>
                  <a:srgbClr val="0B132B"/>
                </a:solidFill>
                <a:latin typeface="Times New Roman" pitchFamily="34" charset="0"/>
                <a:ea typeface="Times New Roman" pitchFamily="34" charset="-122"/>
                <a:cs typeface="Times New Roman" pitchFamily="34" charset="-120"/>
              </a:rPr>
              <a:t>ADVANTAGES IN THE REAL WORLD</a:t>
            </a:r>
            <a:endParaRPr lang="en-US" sz="1600" dirty="0"/>
          </a:p>
        </p:txBody>
      </p:sp>
      <p:sp>
        <p:nvSpPr>
          <p:cNvPr id="5" name="Text 1"/>
          <p:cNvSpPr/>
          <p:nvPr/>
        </p:nvSpPr>
        <p:spPr>
          <a:xfrm>
            <a:off x="542925" y="1564481"/>
            <a:ext cx="3914775" cy="182166"/>
          </a:xfrm>
          <a:prstGeom prst="rect">
            <a:avLst/>
          </a:prstGeom>
          <a:noFill/>
          <a:ln/>
        </p:spPr>
        <p:txBody>
          <a:bodyPr wrap="square" lIns="0" tIns="0" rIns="0" bIns="0" rtlCol="0" anchor="t">
            <a:spAutoFit/>
          </a:bodyPr>
          <a:lstStyle/>
          <a:p>
            <a:pPr marL="0" indent="0" algn="l">
              <a:buNone/>
            </a:pPr>
            <a:r>
              <a:rPr lang="en-US" sz="1100" b="1" dirty="0">
                <a:solidFill>
                  <a:srgbClr val="0B132B"/>
                </a:solidFill>
                <a:latin typeface="Times New Roman" pitchFamily="34" charset="0"/>
                <a:ea typeface="Times New Roman" pitchFamily="34" charset="-122"/>
                <a:cs typeface="Times New Roman" pitchFamily="34" charset="-120"/>
              </a:rPr>
              <a:t>RELIABILITY</a:t>
            </a:r>
            <a:endParaRPr lang="en-US" sz="1100" dirty="0"/>
          </a:p>
        </p:txBody>
      </p:sp>
      <p:sp>
        <p:nvSpPr>
          <p:cNvPr id="6" name="Text 2"/>
          <p:cNvSpPr/>
          <p:nvPr/>
        </p:nvSpPr>
        <p:spPr>
          <a:xfrm>
            <a:off x="542925" y="1803797"/>
            <a:ext cx="3914775"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4A5568"/>
                </a:solidFill>
                <a:latin typeface="Times New Roman" pitchFamily="34" charset="0"/>
                <a:ea typeface="Times New Roman" pitchFamily="34" charset="-122"/>
                <a:cs typeface="Times New Roman" pitchFamily="34" charset="-120"/>
              </a:rPr>
              <a:t>Deterministic task scheduling ensures the system never "hangs" or misses a critical transition.</a:t>
            </a:r>
            <a:endParaRPr lang="en-US" sz="850" dirty="0"/>
          </a:p>
        </p:txBody>
      </p:sp>
      <p:sp>
        <p:nvSpPr>
          <p:cNvPr id="7" name="Text 3"/>
          <p:cNvSpPr/>
          <p:nvPr/>
        </p:nvSpPr>
        <p:spPr>
          <a:xfrm>
            <a:off x="4886325" y="1564481"/>
            <a:ext cx="3914775" cy="182166"/>
          </a:xfrm>
          <a:prstGeom prst="rect">
            <a:avLst/>
          </a:prstGeom>
          <a:noFill/>
          <a:ln/>
        </p:spPr>
        <p:txBody>
          <a:bodyPr wrap="square" lIns="0" tIns="0" rIns="0" bIns="0" rtlCol="0" anchor="t">
            <a:spAutoFit/>
          </a:bodyPr>
          <a:lstStyle/>
          <a:p>
            <a:pPr marL="0" indent="0" algn="l">
              <a:buNone/>
            </a:pPr>
            <a:r>
              <a:rPr lang="en-US" sz="1100" b="1" dirty="0">
                <a:solidFill>
                  <a:srgbClr val="0B132B"/>
                </a:solidFill>
                <a:latin typeface="Times New Roman" pitchFamily="34" charset="0"/>
                <a:ea typeface="Times New Roman" pitchFamily="34" charset="-122"/>
                <a:cs typeface="Times New Roman" pitchFamily="34" charset="-120"/>
              </a:rPr>
              <a:t>EFFICIENCY</a:t>
            </a:r>
            <a:endParaRPr lang="en-US" sz="1100" dirty="0"/>
          </a:p>
        </p:txBody>
      </p:sp>
      <p:sp>
        <p:nvSpPr>
          <p:cNvPr id="8" name="Text 4"/>
          <p:cNvSpPr/>
          <p:nvPr/>
        </p:nvSpPr>
        <p:spPr>
          <a:xfrm>
            <a:off x="4886325" y="1803797"/>
            <a:ext cx="3914775"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4A5568"/>
                </a:solidFill>
                <a:latin typeface="Times New Roman" pitchFamily="34" charset="0"/>
                <a:ea typeface="Times New Roman" pitchFamily="34" charset="-122"/>
                <a:cs typeface="Times New Roman" pitchFamily="34" charset="-120"/>
              </a:rPr>
              <a:t>Minimal resource consumption on microcontrollers, allowing long-term autonomous operation.</a:t>
            </a:r>
            <a:endParaRPr lang="en-US" sz="850" dirty="0"/>
          </a:p>
        </p:txBody>
      </p:sp>
      <p:sp>
        <p:nvSpPr>
          <p:cNvPr id="9" name="Text 5"/>
          <p:cNvSpPr/>
          <p:nvPr/>
        </p:nvSpPr>
        <p:spPr>
          <a:xfrm>
            <a:off x="542925" y="3689747"/>
            <a:ext cx="3914775" cy="182166"/>
          </a:xfrm>
          <a:prstGeom prst="rect">
            <a:avLst/>
          </a:prstGeom>
          <a:noFill/>
          <a:ln/>
        </p:spPr>
        <p:txBody>
          <a:bodyPr wrap="square" lIns="0" tIns="0" rIns="0" bIns="0" rtlCol="0" anchor="t">
            <a:spAutoFit/>
          </a:bodyPr>
          <a:lstStyle/>
          <a:p>
            <a:pPr marL="0" indent="0" algn="l">
              <a:buNone/>
            </a:pPr>
            <a:r>
              <a:rPr lang="en-US" sz="1100" b="1" dirty="0">
                <a:solidFill>
                  <a:srgbClr val="0B132B"/>
                </a:solidFill>
                <a:latin typeface="Times New Roman" pitchFamily="34" charset="0"/>
                <a:ea typeface="Times New Roman" pitchFamily="34" charset="-122"/>
                <a:cs typeface="Times New Roman" pitchFamily="34" charset="-120"/>
              </a:rPr>
              <a:t>SAFETY</a:t>
            </a:r>
            <a:endParaRPr lang="en-US" sz="1100" dirty="0"/>
          </a:p>
        </p:txBody>
      </p:sp>
      <p:sp>
        <p:nvSpPr>
          <p:cNvPr id="10" name="Text 6"/>
          <p:cNvSpPr/>
          <p:nvPr/>
        </p:nvSpPr>
        <p:spPr>
          <a:xfrm>
            <a:off x="542925" y="3929063"/>
            <a:ext cx="3914775"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4A5568"/>
                </a:solidFill>
                <a:latin typeface="Times New Roman" pitchFamily="34" charset="0"/>
                <a:ea typeface="Times New Roman" pitchFamily="34" charset="-122"/>
                <a:cs typeface="Times New Roman" pitchFamily="34" charset="-120"/>
              </a:rPr>
              <a:t>Accurate timing prevents overlaps in green signals across intersecting lanes.</a:t>
            </a:r>
            <a:endParaRPr lang="en-US" sz="850" dirty="0"/>
          </a:p>
        </p:txBody>
      </p:sp>
      <p:sp>
        <p:nvSpPr>
          <p:cNvPr id="11" name="Text 7"/>
          <p:cNvSpPr/>
          <p:nvPr/>
        </p:nvSpPr>
        <p:spPr>
          <a:xfrm>
            <a:off x="4886325" y="3604022"/>
            <a:ext cx="3914775" cy="182166"/>
          </a:xfrm>
          <a:prstGeom prst="rect">
            <a:avLst/>
          </a:prstGeom>
          <a:noFill/>
          <a:ln/>
        </p:spPr>
        <p:txBody>
          <a:bodyPr wrap="square" lIns="0" tIns="0" rIns="0" bIns="0" rtlCol="0" anchor="t">
            <a:spAutoFit/>
          </a:bodyPr>
          <a:lstStyle/>
          <a:p>
            <a:pPr marL="0" indent="0" algn="l">
              <a:buNone/>
            </a:pPr>
            <a:r>
              <a:rPr lang="en-US" sz="1100" b="1" dirty="0">
                <a:solidFill>
                  <a:srgbClr val="0B132B"/>
                </a:solidFill>
                <a:latin typeface="Times New Roman" pitchFamily="34" charset="0"/>
                <a:ea typeface="Times New Roman" pitchFamily="34" charset="-122"/>
                <a:cs typeface="Times New Roman" pitchFamily="34" charset="-120"/>
              </a:rPr>
              <a:t>SCALABILITY</a:t>
            </a:r>
            <a:endParaRPr lang="en-US" sz="1100" dirty="0"/>
          </a:p>
        </p:txBody>
      </p:sp>
      <p:sp>
        <p:nvSpPr>
          <p:cNvPr id="12" name="Text 8"/>
          <p:cNvSpPr/>
          <p:nvPr/>
        </p:nvSpPr>
        <p:spPr>
          <a:xfrm>
            <a:off x="4886325" y="3843338"/>
            <a:ext cx="3914775"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4A5568"/>
                </a:solidFill>
                <a:latin typeface="Times New Roman" pitchFamily="34" charset="0"/>
                <a:ea typeface="Times New Roman" pitchFamily="34" charset="-122"/>
                <a:cs typeface="Times New Roman" pitchFamily="34" charset="-120"/>
              </a:rPr>
              <a:t>RTOS architecture allows adding sensors (cameras, pressure plates) without rewriting core logic.</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42900" y="659459"/>
            <a:ext cx="8458200" cy="246221"/>
          </a:xfrm>
          <a:prstGeom prst="rect">
            <a:avLst/>
          </a:prstGeom>
          <a:noFill/>
          <a:ln/>
        </p:spPr>
        <p:txBody>
          <a:bodyPr wrap="square" lIns="0" tIns="0" rIns="0" bIns="0" rtlCol="0" anchor="t">
            <a:spAutoFit/>
          </a:bodyPr>
          <a:lstStyle/>
          <a:p>
            <a:pPr marL="0" indent="0" algn="ctr">
              <a:buNone/>
            </a:pPr>
            <a:r>
              <a:rPr lang="en-US" sz="1600" b="1" kern="0" spc="1" dirty="0">
                <a:solidFill>
                  <a:srgbClr val="0B132B"/>
                </a:solidFill>
                <a:latin typeface="Times New Roman" pitchFamily="34" charset="0"/>
                <a:ea typeface="Times New Roman" pitchFamily="34" charset="-122"/>
                <a:cs typeface="Times New Roman" pitchFamily="34" charset="-120"/>
              </a:rPr>
              <a:t>CONCLUSION: SMALL SYSTEM, STRICT TIMING</a:t>
            </a:r>
            <a:endParaRPr lang="en-US" sz="1600" dirty="0"/>
          </a:p>
        </p:txBody>
      </p:sp>
      <p:sp>
        <p:nvSpPr>
          <p:cNvPr id="5" name="Text 1"/>
          <p:cNvSpPr/>
          <p:nvPr/>
        </p:nvSpPr>
        <p:spPr>
          <a:xfrm>
            <a:off x="1714499" y="1792861"/>
            <a:ext cx="5715000" cy="427489"/>
          </a:xfrm>
          <a:prstGeom prst="rect">
            <a:avLst/>
          </a:prstGeom>
          <a:noFill/>
          <a:ln/>
        </p:spPr>
        <p:txBody>
          <a:bodyPr wrap="square" lIns="0" tIns="0" rIns="0" bIns="0" rtlCol="0" anchor="t">
            <a:spAutoFit/>
          </a:bodyPr>
          <a:lstStyle/>
          <a:p>
            <a:pPr marL="0" indent="0" algn="ctr">
              <a:lnSpc>
                <a:spcPct val="120000"/>
              </a:lnSpc>
              <a:buNone/>
            </a:pPr>
            <a:r>
              <a:rPr lang="en-US" sz="1200" dirty="0">
                <a:solidFill>
                  <a:srgbClr val="4A5568"/>
                </a:solidFill>
                <a:latin typeface="Times New Roman" pitchFamily="34" charset="0"/>
                <a:ea typeface="Times New Roman" pitchFamily="34" charset="-122"/>
                <a:cs typeface="Times New Roman" pitchFamily="34" charset="-120"/>
              </a:rPr>
              <a:t>A traffic signal controller is a powerful example of how hardware, software, and real-time operating systems converge to manage safety-critical environments.</a:t>
            </a:r>
            <a:endParaRPr lang="en-US" sz="1200" dirty="0"/>
          </a:p>
        </p:txBody>
      </p:sp>
      <p:sp>
        <p:nvSpPr>
          <p:cNvPr id="6" name="Text 2"/>
          <p:cNvSpPr/>
          <p:nvPr/>
        </p:nvSpPr>
        <p:spPr>
          <a:xfrm>
            <a:off x="1364456" y="3100388"/>
            <a:ext cx="1666894" cy="114300"/>
          </a:xfrm>
          <a:prstGeom prst="rect">
            <a:avLst/>
          </a:prstGeom>
          <a:noFill/>
          <a:ln/>
        </p:spPr>
        <p:txBody>
          <a:bodyPr wrap="square" lIns="0" tIns="0" rIns="0" bIns="0" rtlCol="0" anchor="t">
            <a:spAutoFit/>
          </a:bodyPr>
          <a:lstStyle/>
          <a:p>
            <a:pPr marL="0" indent="0" algn="ctr">
              <a:buNone/>
            </a:pPr>
            <a:r>
              <a:rPr lang="en-US" sz="700" b="1" kern="0" spc="1" dirty="0">
                <a:solidFill>
                  <a:srgbClr val="4A5568"/>
                </a:solidFill>
                <a:latin typeface="Times New Roman" pitchFamily="34" charset="0"/>
                <a:ea typeface="Times New Roman" pitchFamily="34" charset="-122"/>
                <a:cs typeface="Times New Roman" pitchFamily="34" charset="-120"/>
              </a:rPr>
              <a:t>HARDWARE</a:t>
            </a:r>
            <a:endParaRPr lang="en-US" sz="700" dirty="0"/>
          </a:p>
        </p:txBody>
      </p:sp>
      <p:sp>
        <p:nvSpPr>
          <p:cNvPr id="7" name="Text 3"/>
          <p:cNvSpPr/>
          <p:nvPr/>
        </p:nvSpPr>
        <p:spPr>
          <a:xfrm>
            <a:off x="1364456" y="3300413"/>
            <a:ext cx="1666894" cy="150019"/>
          </a:xfrm>
          <a:prstGeom prst="rect">
            <a:avLst/>
          </a:prstGeom>
          <a:noFill/>
          <a:ln/>
        </p:spPr>
        <p:txBody>
          <a:bodyPr wrap="square" lIns="0" tIns="0" rIns="0" bIns="0" rtlCol="0" anchor="t">
            <a:spAutoFit/>
          </a:bodyPr>
          <a:lstStyle/>
          <a:p>
            <a:pPr marL="0" indent="0" algn="ctr">
              <a:buNone/>
            </a:pPr>
            <a:r>
              <a:rPr lang="en-US" sz="900" b="1" dirty="0">
                <a:solidFill>
                  <a:srgbClr val="0B132B"/>
                </a:solidFill>
                <a:latin typeface="Times New Roman" pitchFamily="34" charset="0"/>
                <a:ea typeface="Times New Roman" pitchFamily="34" charset="-122"/>
                <a:cs typeface="Times New Roman" pitchFamily="34" charset="-120"/>
              </a:rPr>
              <a:t>Microcontrollers &amp; LEDs</a:t>
            </a:r>
            <a:endParaRPr lang="en-US" sz="900" dirty="0"/>
          </a:p>
        </p:txBody>
      </p:sp>
      <p:sp>
        <p:nvSpPr>
          <p:cNvPr id="8" name="Text 4"/>
          <p:cNvSpPr/>
          <p:nvPr/>
        </p:nvSpPr>
        <p:spPr>
          <a:xfrm>
            <a:off x="3738581" y="3107531"/>
            <a:ext cx="1666894" cy="114300"/>
          </a:xfrm>
          <a:prstGeom prst="rect">
            <a:avLst/>
          </a:prstGeom>
          <a:noFill/>
          <a:ln/>
        </p:spPr>
        <p:txBody>
          <a:bodyPr wrap="square" lIns="0" tIns="0" rIns="0" bIns="0" rtlCol="0" anchor="t">
            <a:spAutoFit/>
          </a:bodyPr>
          <a:lstStyle/>
          <a:p>
            <a:pPr marL="0" indent="0" algn="ctr">
              <a:buNone/>
            </a:pPr>
            <a:r>
              <a:rPr lang="en-US" sz="700" b="1" kern="0" spc="1" dirty="0">
                <a:solidFill>
                  <a:srgbClr val="4A5568"/>
                </a:solidFill>
                <a:latin typeface="Times New Roman" pitchFamily="34" charset="0"/>
                <a:ea typeface="Times New Roman" pitchFamily="34" charset="-122"/>
                <a:cs typeface="Times New Roman" pitchFamily="34" charset="-120"/>
              </a:rPr>
              <a:t>SOFTWARE</a:t>
            </a:r>
            <a:endParaRPr lang="en-US" sz="700" dirty="0"/>
          </a:p>
        </p:txBody>
      </p:sp>
      <p:sp>
        <p:nvSpPr>
          <p:cNvPr id="9" name="Text 5"/>
          <p:cNvSpPr/>
          <p:nvPr/>
        </p:nvSpPr>
        <p:spPr>
          <a:xfrm>
            <a:off x="3738581" y="3307556"/>
            <a:ext cx="1666894" cy="150019"/>
          </a:xfrm>
          <a:prstGeom prst="rect">
            <a:avLst/>
          </a:prstGeom>
          <a:noFill/>
          <a:ln/>
        </p:spPr>
        <p:txBody>
          <a:bodyPr wrap="square" lIns="0" tIns="0" rIns="0" bIns="0" rtlCol="0" anchor="t">
            <a:spAutoFit/>
          </a:bodyPr>
          <a:lstStyle/>
          <a:p>
            <a:pPr marL="0" indent="0" algn="ctr">
              <a:buNone/>
            </a:pPr>
            <a:r>
              <a:rPr lang="en-US" sz="900" b="1" dirty="0">
                <a:solidFill>
                  <a:srgbClr val="0B132B"/>
                </a:solidFill>
                <a:latin typeface="Times New Roman" pitchFamily="34" charset="0"/>
                <a:ea typeface="Times New Roman" pitchFamily="34" charset="-122"/>
                <a:cs typeface="Times New Roman" pitchFamily="34" charset="-120"/>
              </a:rPr>
              <a:t>RTOS Kernel &amp; Drivers</a:t>
            </a:r>
            <a:endParaRPr lang="en-US" sz="900" dirty="0"/>
          </a:p>
        </p:txBody>
      </p:sp>
      <p:sp>
        <p:nvSpPr>
          <p:cNvPr id="10" name="Text 6"/>
          <p:cNvSpPr/>
          <p:nvPr/>
        </p:nvSpPr>
        <p:spPr>
          <a:xfrm>
            <a:off x="6112706" y="3100388"/>
            <a:ext cx="1666894" cy="114300"/>
          </a:xfrm>
          <a:prstGeom prst="rect">
            <a:avLst/>
          </a:prstGeom>
          <a:noFill/>
          <a:ln/>
        </p:spPr>
        <p:txBody>
          <a:bodyPr wrap="square" lIns="0" tIns="0" rIns="0" bIns="0" rtlCol="0" anchor="t">
            <a:spAutoFit/>
          </a:bodyPr>
          <a:lstStyle/>
          <a:p>
            <a:pPr marL="0" indent="0" algn="ctr">
              <a:buNone/>
            </a:pPr>
            <a:r>
              <a:rPr lang="en-US" sz="700" b="1" kern="0" spc="1" dirty="0">
                <a:solidFill>
                  <a:srgbClr val="4A5568"/>
                </a:solidFill>
                <a:latin typeface="Times New Roman" pitchFamily="34" charset="0"/>
                <a:ea typeface="Times New Roman" pitchFamily="34" charset="-122"/>
                <a:cs typeface="Times New Roman" pitchFamily="34" charset="-120"/>
              </a:rPr>
              <a:t>OUTCOME</a:t>
            </a:r>
            <a:endParaRPr lang="en-US" sz="700" dirty="0"/>
          </a:p>
        </p:txBody>
      </p:sp>
      <p:sp>
        <p:nvSpPr>
          <p:cNvPr id="11" name="Text 7"/>
          <p:cNvSpPr/>
          <p:nvPr/>
        </p:nvSpPr>
        <p:spPr>
          <a:xfrm>
            <a:off x="6112706" y="3300413"/>
            <a:ext cx="1666894" cy="150019"/>
          </a:xfrm>
          <a:prstGeom prst="rect">
            <a:avLst/>
          </a:prstGeom>
          <a:noFill/>
          <a:ln/>
        </p:spPr>
        <p:txBody>
          <a:bodyPr wrap="square" lIns="0" tIns="0" rIns="0" bIns="0" rtlCol="0" anchor="t">
            <a:spAutoFit/>
          </a:bodyPr>
          <a:lstStyle/>
          <a:p>
            <a:pPr marL="0" indent="0" algn="ctr">
              <a:buNone/>
            </a:pPr>
            <a:r>
              <a:rPr lang="en-US" sz="900" b="1" dirty="0">
                <a:solidFill>
                  <a:srgbClr val="0B132B"/>
                </a:solidFill>
                <a:latin typeface="Times New Roman" pitchFamily="34" charset="0"/>
                <a:ea typeface="Times New Roman" pitchFamily="34" charset="-122"/>
                <a:cs typeface="Times New Roman" pitchFamily="34" charset="-120"/>
              </a:rPr>
              <a:t>Safe &amp; Reliable Traffic Flow</a:t>
            </a:r>
            <a:endParaRPr lang="en-US" sz="900" dirty="0"/>
          </a:p>
        </p:txBody>
      </p:sp>
      <p:sp>
        <p:nvSpPr>
          <p:cNvPr id="12" name="Shape 8"/>
          <p:cNvSpPr/>
          <p:nvPr/>
        </p:nvSpPr>
        <p:spPr>
          <a:xfrm>
            <a:off x="342900" y="4593431"/>
            <a:ext cx="8458200" cy="207169"/>
          </a:xfrm>
          <a:prstGeom prst="rect">
            <a:avLst/>
          </a:prstGeom>
          <a:solidFill>
            <a:srgbClr val="000000">
              <a:alpha val="0"/>
            </a:srgbClr>
          </a:solidFill>
          <a:ln/>
        </p:spPr>
      </p:sp>
      <p:sp>
        <p:nvSpPr>
          <p:cNvPr id="13" name="Shape 9"/>
          <p:cNvSpPr/>
          <p:nvPr/>
        </p:nvSpPr>
        <p:spPr>
          <a:xfrm>
            <a:off x="342900" y="4593431"/>
            <a:ext cx="8458200" cy="7144"/>
          </a:xfrm>
          <a:prstGeom prst="rect">
            <a:avLst/>
          </a:prstGeom>
          <a:solidFill>
            <a:srgbClr val="CBD5E0"/>
          </a:solidFill>
          <a:ln/>
        </p:spPr>
      </p:sp>
      <p:sp>
        <p:nvSpPr>
          <p:cNvPr id="2" name="TextBox 1">
            <a:extLst>
              <a:ext uri="{FF2B5EF4-FFF2-40B4-BE49-F238E27FC236}">
                <a16:creationId xmlns:a16="http://schemas.microsoft.com/office/drawing/2014/main" id="{39A1F403-604D-B8A9-C2D0-994DAA66DCBD}"/>
              </a:ext>
            </a:extLst>
          </p:cNvPr>
          <p:cNvSpPr txBox="1"/>
          <p:nvPr/>
        </p:nvSpPr>
        <p:spPr>
          <a:xfrm>
            <a:off x="382465" y="1081069"/>
            <a:ext cx="8379069" cy="369332"/>
          </a:xfrm>
          <a:prstGeom prst="rect">
            <a:avLst/>
          </a:prstGeom>
          <a:noFill/>
        </p:spPr>
        <p:txBody>
          <a:bodyPr wrap="square" rtlCol="0">
            <a:spAutoFit/>
          </a:bodyPr>
          <a:lstStyle/>
          <a:p>
            <a:r>
              <a:rPr lang="en-GB" b="1" dirty="0"/>
              <a:t>_______________________________________________________________________</a:t>
            </a:r>
            <a:endParaRPr lang="en-IN"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1202</Words>
  <Application>Microsoft Office PowerPoint</Application>
  <PresentationFormat>On-screen Show (16:9)</PresentationFormat>
  <Paragraphs>115</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Musthaffa</cp:lastModifiedBy>
  <cp:revision>3</cp:revision>
  <dcterms:created xsi:type="dcterms:W3CDTF">2026-10-05T14:32:58Z</dcterms:created>
  <dcterms:modified xsi:type="dcterms:W3CDTF">2026-10-08T04:02:25Z</dcterms:modified>
</cp:coreProperties>
</file>